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2" r:id="rId4"/>
    <p:sldId id="279" r:id="rId5"/>
    <p:sldId id="259" r:id="rId6"/>
    <p:sldId id="268" r:id="rId7"/>
    <p:sldId id="263" r:id="rId8"/>
    <p:sldId id="280" r:id="rId9"/>
    <p:sldId id="264" r:id="rId10"/>
    <p:sldId id="269" r:id="rId11"/>
    <p:sldId id="270" r:id="rId12"/>
    <p:sldId id="267" r:id="rId13"/>
    <p:sldId id="278" r:id="rId14"/>
    <p:sldId id="277" r:id="rId15"/>
    <p:sldId id="271" r:id="rId16"/>
    <p:sldId id="272" r:id="rId17"/>
    <p:sldId id="273" r:id="rId18"/>
    <p:sldId id="293" r:id="rId19"/>
    <p:sldId id="296" r:id="rId20"/>
    <p:sldId id="294" r:id="rId21"/>
    <p:sldId id="295" r:id="rId22"/>
    <p:sldId id="289" r:id="rId23"/>
    <p:sldId id="2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t 1: Intro" id="{5D4F9425-FD17-467C-800D-3F88A884F4B9}">
          <p14:sldIdLst>
            <p14:sldId id="256"/>
            <p14:sldId id="257"/>
            <p14:sldId id="262"/>
            <p14:sldId id="279"/>
          </p14:sldIdLst>
        </p14:section>
        <p14:section name="Part 2: Godot, Unity, Unreal" id="{62C94310-7EF2-4E0F-99DB-72664CB60BDD}">
          <p14:sldIdLst>
            <p14:sldId id="259"/>
            <p14:sldId id="268"/>
            <p14:sldId id="263"/>
            <p14:sldId id="280"/>
            <p14:sldId id="264"/>
            <p14:sldId id="269"/>
            <p14:sldId id="270"/>
            <p14:sldId id="267"/>
            <p14:sldId id="278"/>
            <p14:sldId id="277"/>
            <p14:sldId id="271"/>
          </p14:sldIdLst>
        </p14:section>
        <p14:section name="Part 3: DATASPIRE" id="{3FF1D491-E682-4C95-B51A-2EFD12A77FCE}">
          <p14:sldIdLst>
            <p14:sldId id="272"/>
            <p14:sldId id="273"/>
            <p14:sldId id="293"/>
            <p14:sldId id="296"/>
            <p14:sldId id="294"/>
            <p14:sldId id="295"/>
          </p14:sldIdLst>
        </p14:section>
        <p14:section name="Part 4: ENDING" id="{C9097B72-D0D3-433A-89EA-CC7F9A55E17E}">
          <p14:sldIdLst>
            <p14:sldId id="289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743F32-A42D-42F0-89B2-CBE0BA3FCE2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28EE0-F289-40D1-9495-9F5904F03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13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28EE0-F289-40D1-9495-9F5904F036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81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9B15E-6326-7BC5-22D3-69431B2AE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942D45-B9CC-928D-655D-5A0AE514E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A4B57-77D1-75A4-5C4E-1962BCA19D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70E54-D569-C23F-733A-43BA4DE76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E14B8-6031-D8DD-86E6-B9EF26E08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70750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CE9BBFD-C28B-FF19-F3ED-21CE4DC651FB}"/>
              </a:ext>
            </a:extLst>
          </p:cNvPr>
          <p:cNvSpPr/>
          <p:nvPr userDrawn="1"/>
        </p:nvSpPr>
        <p:spPr>
          <a:xfrm>
            <a:off x="0" y="365124"/>
            <a:ext cx="12191999" cy="10671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6A867A-3ED3-F50A-77F3-4BF06A56B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71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780E-45BF-FCC1-CE64-ECDFC5564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2683"/>
            <a:ext cx="10515600" cy="4534280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116916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B47E1-5979-D7C7-D6B7-519E71292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DD031-2146-0618-7039-18EE2B617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63A77-071B-C897-8EF3-340C2541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7C063-6401-24D4-81B3-F66AF3184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169FF-2776-D426-F4DC-03E07E393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81364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F45A8-4A82-F5E1-0B11-D6CF13508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B8A81-D97E-DCF3-C30C-E1DBEE45D2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305FD-B795-0B4A-B720-AB2626F0D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897B6-81E2-C66D-9284-370176B306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BD5C-D8C2-BA3F-C212-651FDDA0A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340EC-AA3C-D9CF-D020-9CEC4764E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61736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923F9-4D17-E83A-BFF5-0E2544655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0BE1E-4D8C-7175-1917-B2466A5C9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5B10B8-C8BE-6D6A-E368-54AD187AD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ABA7ED-76CF-1339-682D-C57997750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D5FAC-1DF6-E71B-162A-417D8D5C9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59AD97-4D27-68DE-47D9-F94076C8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1C9399-65AC-1E44-64BF-3386C10E7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9E5BD-E516-CD84-BB7B-8DCFFDA3D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3295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2178F-0A69-78C0-7D10-3200C7E53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312C50-0B62-F8FA-C938-BB61AE4A4F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F462BF-2260-2493-F1C4-47087008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129A2C-65D4-D6CE-908C-F3A8B5426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353669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225F18-00F8-9900-1E11-A48C4EBC10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2841DF-907C-D61A-ECB8-D147795FF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0DC34-3537-2A5D-4F40-2EA371413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1679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CE5F6-E923-2AFD-0A11-E97293AA3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C9D5B-2208-B73B-6083-DA9C541B2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E6E20-FA4A-BA5B-22C7-0A5DC1D33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65671-65C6-7EB6-CEC1-B5AA2EC70D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62D3A-23F0-C921-5014-E3ABFA4F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606CC-F82C-D865-408F-361642338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076379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3B6F-8DBA-19BF-76F9-17B6053AB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F8AC98-2ED6-109D-BCF1-800C9E6A1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DB9CDD-AB85-204D-6D91-3BEC565C3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03291-3348-3F88-1B47-C8A8EACABA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60721-B08E-EB31-9AED-C19F360B6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750CD-FB32-138D-A429-FBE7808D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568304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446D1-100E-6579-E428-3949CF2DB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4A31D-7056-646F-0656-391086020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EF4CF-20B6-7D4A-03A1-E85340C8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CC2A3-BB8C-20CE-9099-6EE3AF497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B98E4-51AF-3AE6-FEDA-28CF9ACB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062011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CAD6B2-4E95-4CAA-3A01-F3E4D807CC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F24DA-62F3-4BF6-D5A7-9F9CEC5FE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99056-39D9-535F-2E42-4EC776D6FE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FB937-F507-6560-C266-CEC1582B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66842-087B-022F-A7A7-D1E0B2159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92056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F654C7C-CCD8-B00D-F279-CDD80EAF754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84C49B-9997-39D7-AD5C-DBB08E81D3AC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711C91-D9E5-0C51-D8B9-E268164C8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C4432-A6D8-FD32-1597-D3F241238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E6EC3E8-158E-55AF-905B-1CC541C37FF8}"/>
              </a:ext>
            </a:extLst>
          </p:cNvPr>
          <p:cNvSpPr txBox="1">
            <a:spLocks/>
          </p:cNvSpPr>
          <p:nvPr userDrawn="1"/>
        </p:nvSpPr>
        <p:spPr>
          <a:xfrm>
            <a:off x="6095999" y="6492875"/>
            <a:ext cx="60960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KENNETH W. // VANCE B.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D2AC5BD-2013-F92D-989A-AA4C206D3505}"/>
              </a:ext>
            </a:extLst>
          </p:cNvPr>
          <p:cNvSpPr txBox="1">
            <a:spLocks/>
          </p:cNvSpPr>
          <p:nvPr userDrawn="1"/>
        </p:nvSpPr>
        <p:spPr>
          <a:xfrm>
            <a:off x="-2" y="6492875"/>
            <a:ext cx="60960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DATASPIRE GAME PROJECT</a:t>
            </a:r>
          </a:p>
        </p:txBody>
      </p:sp>
    </p:spTree>
    <p:extLst>
      <p:ext uri="{BB962C8B-B14F-4D97-AF65-F5344CB8AC3E}">
        <p14:creationId xmlns:p14="http://schemas.microsoft.com/office/powerpoint/2010/main" val="1213154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ll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03B49D-EB6B-1AE1-42E7-83B0D5CDFA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4E5251-E441-3B5D-2B5D-A34D527F76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rmAutofit fontScale="90000"/>
          </a:bodyPr>
          <a:lstStyle/>
          <a:p>
            <a:r>
              <a:rPr lang="en-US" dirty="0"/>
              <a:t>Efficacy of</a:t>
            </a:r>
            <a:br>
              <a:rPr lang="en-US" dirty="0"/>
            </a:br>
            <a:r>
              <a:rPr lang="en-US" dirty="0"/>
              <a:t>3D Game Development</a:t>
            </a:r>
            <a:br>
              <a:rPr lang="en-US" dirty="0"/>
            </a:br>
            <a:r>
              <a:rPr lang="en-US" dirty="0"/>
              <a:t>in the Godot Game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906A2A-CFD7-51EE-D8FA-0EBA949F02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en-US" sz="3600" dirty="0"/>
              <a:t>DATASPIRE GAME PROJECT</a:t>
            </a:r>
          </a:p>
          <a:p>
            <a:r>
              <a:rPr lang="en-US" sz="3600" dirty="0"/>
              <a:t>BY </a:t>
            </a:r>
            <a:r>
              <a:rPr lang="en-US" sz="3600" b="1" dirty="0"/>
              <a:t>KENNETH W.</a:t>
            </a:r>
            <a:r>
              <a:rPr lang="en-US" sz="3600" dirty="0"/>
              <a:t> AND </a:t>
            </a:r>
            <a:r>
              <a:rPr lang="en-US" sz="3600" b="1" dirty="0"/>
              <a:t>VANCE B.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0F03D4-DA25-B187-0933-F17C0B64D48F}"/>
              </a:ext>
            </a:extLst>
          </p:cNvPr>
          <p:cNvSpPr/>
          <p:nvPr/>
        </p:nvSpPr>
        <p:spPr>
          <a:xfrm flipV="1">
            <a:off x="1524000" y="3533141"/>
            <a:ext cx="91440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34303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0DBAAED-C927-5BC3-F68A-C4626C9064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CDB4D7-90D4-B4E4-7739-29E64658F01E}"/>
              </a:ext>
            </a:extLst>
          </p:cNvPr>
          <p:cNvSpPr/>
          <p:nvPr/>
        </p:nvSpPr>
        <p:spPr>
          <a:xfrm>
            <a:off x="1" y="365124"/>
            <a:ext cx="12191999" cy="10671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B76293-348D-6EA6-7A79-152E9E928FCD}"/>
              </a:ext>
            </a:extLst>
          </p:cNvPr>
          <p:cNvSpPr/>
          <p:nvPr/>
        </p:nvSpPr>
        <p:spPr>
          <a:xfrm>
            <a:off x="0" y="365124"/>
            <a:ext cx="12191999" cy="10671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7A6085-9481-297D-6576-5496DB605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We 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200" b="1" u="sng" dirty="0"/>
              <a:t>KENNETH W.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Lead Developer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Focus: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Enemies, AI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User Interface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Player Physics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Player Movement</a:t>
            </a:r>
          </a:p>
          <a:p>
            <a:pPr marL="457200" lvl="1" indent="0" algn="ctr">
              <a:lnSpc>
                <a:spcPct val="100000"/>
              </a:lnSpc>
              <a:buNone/>
            </a:pPr>
            <a:r>
              <a:rPr lang="en-US" b="1" u="sng" dirty="0"/>
              <a:t>VANCE B.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Developer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Focus: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Combat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Level Loading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Combo System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Elemental Reactions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167F85-ADFE-83B1-DCD8-937DD7C07C57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B8B458A-2C3B-1342-3302-50750E5D7600}"/>
              </a:ext>
            </a:extLst>
          </p:cNvPr>
          <p:cNvGrpSpPr/>
          <p:nvPr/>
        </p:nvGrpSpPr>
        <p:grpSpPr>
          <a:xfrm>
            <a:off x="-2" y="6492875"/>
            <a:ext cx="12192002" cy="365125"/>
            <a:chOff x="-2" y="6492875"/>
            <a:chExt cx="12192002" cy="365125"/>
          </a:xfrm>
        </p:grpSpPr>
        <p:sp>
          <p:nvSpPr>
            <p:cNvPr id="16" name="Footer Placeholder 4">
              <a:extLst>
                <a:ext uri="{FF2B5EF4-FFF2-40B4-BE49-F238E27FC236}">
                  <a16:creationId xmlns:a16="http://schemas.microsoft.com/office/drawing/2014/main" id="{A9F395DD-3EE9-CF9E-EA63-4CE8A506B4E4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6492875"/>
              <a:ext cx="6096001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dirty="0"/>
                <a:t>KENNETH W. // VANCE B.</a:t>
              </a:r>
            </a:p>
          </p:txBody>
        </p:sp>
        <p:sp>
          <p:nvSpPr>
            <p:cNvPr id="17" name="Footer Placeholder 4">
              <a:extLst>
                <a:ext uri="{FF2B5EF4-FFF2-40B4-BE49-F238E27FC236}">
                  <a16:creationId xmlns:a16="http://schemas.microsoft.com/office/drawing/2014/main" id="{4D7305F7-2B38-391D-251F-5DDFC256E3DA}"/>
                </a:ext>
              </a:extLst>
            </p:cNvPr>
            <p:cNvSpPr txBox="1">
              <a:spLocks/>
            </p:cNvSpPr>
            <p:nvPr/>
          </p:nvSpPr>
          <p:spPr>
            <a:xfrm>
              <a:off x="-2" y="6492875"/>
              <a:ext cx="6096001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DATASPIRE GAME PROJECT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462933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A6085-9481-297D-6576-5496DB605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/>
              <a:t>To gain a </a:t>
            </a:r>
            <a:r>
              <a:rPr lang="en-US" sz="3600" b="1" dirty="0"/>
              <a:t>basic understanding </a:t>
            </a:r>
            <a:r>
              <a:rPr lang="en-US" sz="3600" dirty="0"/>
              <a:t>of…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How Godot works.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3D development in Godot.</a:t>
            </a:r>
            <a:endParaRPr lang="en-US" sz="3600" i="1" dirty="0"/>
          </a:p>
          <a:p>
            <a:pPr marL="514350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/>
              <a:t>To </a:t>
            </a:r>
            <a:r>
              <a:rPr lang="en-US" sz="3600" b="1" dirty="0"/>
              <a:t>provide an overview </a:t>
            </a:r>
            <a:r>
              <a:rPr lang="en-US" sz="3600" dirty="0"/>
              <a:t>of…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Our experience with Godot.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Implementation in Godot vs. Unity or Unreal Engine.</a:t>
            </a:r>
          </a:p>
        </p:txBody>
      </p:sp>
    </p:spTree>
    <p:extLst>
      <p:ext uri="{BB962C8B-B14F-4D97-AF65-F5344CB8AC3E}">
        <p14:creationId xmlns:p14="http://schemas.microsoft.com/office/powerpoint/2010/main" val="2631655195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A6085-9481-297D-6576-5496DB605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2064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3600" dirty="0"/>
              <a:t>To </a:t>
            </a:r>
            <a:r>
              <a:rPr lang="en-US" sz="3600" b="1" dirty="0"/>
              <a:t>help new game developers</a:t>
            </a:r>
            <a:r>
              <a:rPr lang="en-US" sz="3600" dirty="0"/>
              <a:t>…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Understand the basics of Godot.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Know if Godot is right for them.</a:t>
            </a:r>
            <a:endParaRPr lang="en-US" sz="3600" i="1" dirty="0"/>
          </a:p>
          <a:p>
            <a:pPr marL="514350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3600" dirty="0"/>
              <a:t>To </a:t>
            </a:r>
            <a:r>
              <a:rPr lang="en-US" sz="3600" b="1" dirty="0"/>
              <a:t>create a 3D game </a:t>
            </a:r>
            <a:r>
              <a:rPr lang="en-US" sz="3600" dirty="0"/>
              <a:t>in Godot.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dirty="0"/>
              <a:t>The </a:t>
            </a:r>
            <a:r>
              <a:rPr lang="en-US" sz="3200" b="1" dirty="0"/>
              <a:t>DATASPIRE Game Project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4641136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 game development engine.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Supports 2D and 3D games.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Supports multiple languages.</a:t>
            </a:r>
          </a:p>
          <a:p>
            <a:pPr lvl="1"/>
            <a:r>
              <a:rPr lang="en-US" i="1" dirty="0"/>
              <a:t>Native language is GDScript.</a:t>
            </a:r>
          </a:p>
          <a:p>
            <a:pPr lvl="1"/>
            <a:r>
              <a:rPr lang="en-US" i="1" dirty="0"/>
              <a:t>Supports C#, C++, and more.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Utilizes </a:t>
            </a:r>
            <a:r>
              <a:rPr lang="en-US" i="1" dirty="0"/>
              <a:t>Nodes</a:t>
            </a:r>
            <a:r>
              <a:rPr lang="en-US" dirty="0"/>
              <a:t> and </a:t>
            </a:r>
            <a:r>
              <a:rPr lang="en-US" i="1" dirty="0"/>
              <a:t>Scenes</a:t>
            </a:r>
            <a:r>
              <a:rPr lang="en-US" dirty="0"/>
              <a:t>.</a:t>
            </a:r>
            <a:endParaRPr lang="en-US" i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1. The Godot Engine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5923FD-8825-DE19-632A-29A2140E6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863" y="1432290"/>
            <a:ext cx="4422740" cy="506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55105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2683"/>
            <a:ext cx="6649528" cy="453428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Nodes are </a:t>
            </a:r>
            <a:r>
              <a:rPr lang="en-US" b="1" dirty="0"/>
              <a:t>basic building blocks</a:t>
            </a:r>
            <a:r>
              <a:rPr lang="en-US" dirty="0"/>
              <a:t>.</a:t>
            </a:r>
          </a:p>
          <a:p>
            <a:pPr lvl="1"/>
            <a:r>
              <a:rPr lang="en-US" i="1" dirty="0"/>
              <a:t>Collision shapes, Cameras, Animators, etc.</a:t>
            </a:r>
          </a:p>
          <a:p>
            <a:r>
              <a:rPr lang="en-US" dirty="0"/>
              <a:t>Scenes are </a:t>
            </a:r>
            <a:r>
              <a:rPr lang="en-US" b="1" dirty="0"/>
              <a:t>collections of Nodes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Scripts can be added to Nodes to extend their functionality.</a:t>
            </a:r>
          </a:p>
          <a:p>
            <a:pPr lvl="1"/>
            <a:r>
              <a:rPr lang="en-US" dirty="0"/>
              <a:t>Scenes can be nested in other Scenes.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1. The Godot Engine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5923FD-8825-DE19-632A-29A2140E6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863" y="1432290"/>
            <a:ext cx="4422740" cy="506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48229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Easy to learn, hard to master.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User friendly interface.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Good in-engine documentation.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Lots of community-made assets available.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2. Our Experience: Pros</a:t>
            </a:r>
          </a:p>
        </p:txBody>
      </p:sp>
    </p:spTree>
    <p:extLst>
      <p:ext uri="{BB962C8B-B14F-4D97-AF65-F5344CB8AC3E}">
        <p14:creationId xmlns:p14="http://schemas.microsoft.com/office/powerpoint/2010/main" val="2896987534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Lack of online tutorials.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Missing features that are standard in other engines.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2. Our Experience: Cons</a:t>
            </a:r>
          </a:p>
        </p:txBody>
      </p:sp>
    </p:spTree>
    <p:extLst>
      <p:ext uri="{BB962C8B-B14F-4D97-AF65-F5344CB8AC3E}">
        <p14:creationId xmlns:p14="http://schemas.microsoft.com/office/powerpoint/2010/main" val="83149062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Godot vs. Unity: Player Stair-stepping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Stair-stepping allows players to walk up stair steps without needing to jump over them.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Unity</a:t>
            </a:r>
            <a:r>
              <a:rPr lang="en-US" dirty="0"/>
              <a:t> - Built-in; define a maximum step height with </a:t>
            </a:r>
            <a:r>
              <a:rPr lang="en-US" dirty="0" err="1"/>
              <a:t>stepOffset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Godot</a:t>
            </a:r>
            <a:r>
              <a:rPr lang="en-US" dirty="0"/>
              <a:t> – “Custom” implementation needed.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2. Implementation Comparison 1</a:t>
            </a:r>
          </a:p>
        </p:txBody>
      </p:sp>
    </p:spTree>
    <p:extLst>
      <p:ext uri="{BB962C8B-B14F-4D97-AF65-F5344CB8AC3E}">
        <p14:creationId xmlns:p14="http://schemas.microsoft.com/office/powerpoint/2010/main" val="3230917134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1D1AC03-4934-59F8-5DD5-362E6B8A4A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80" t="6686" r="24968" b="117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1689A15-EAEF-6A1F-B362-4246B0696583}"/>
              </a:ext>
            </a:extLst>
          </p:cNvPr>
          <p:cNvGrpSpPr/>
          <p:nvPr/>
        </p:nvGrpSpPr>
        <p:grpSpPr>
          <a:xfrm>
            <a:off x="6095998" y="-123825"/>
            <a:ext cx="6229351" cy="933450"/>
            <a:chOff x="6095998" y="-123825"/>
            <a:chExt cx="6229351" cy="933450"/>
          </a:xfrm>
        </p:grpSpPr>
        <p:sp>
          <p:nvSpPr>
            <p:cNvPr id="7" name="Rectangle: Single Corner Snipped 6">
              <a:extLst>
                <a:ext uri="{FF2B5EF4-FFF2-40B4-BE49-F238E27FC236}">
                  <a16:creationId xmlns:a16="http://schemas.microsoft.com/office/drawing/2014/main" id="{0CA6DBBD-4C0D-783C-D3EC-E0D0FD7C5CA9}"/>
                </a:ext>
              </a:extLst>
            </p:cNvPr>
            <p:cNvSpPr/>
            <p:nvPr/>
          </p:nvSpPr>
          <p:spPr>
            <a:xfrm rot="10800000">
              <a:off x="6095998" y="-123825"/>
              <a:ext cx="6229351" cy="933450"/>
            </a:xfrm>
            <a:prstGeom prst="snip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ooter Placeholder 4">
              <a:extLst>
                <a:ext uri="{FF2B5EF4-FFF2-40B4-BE49-F238E27FC236}">
                  <a16:creationId xmlns:a16="http://schemas.microsoft.com/office/drawing/2014/main" id="{BDDBF607-8695-0809-A198-52D590B34509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0"/>
              <a:ext cx="6096001" cy="8096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800" dirty="0"/>
                <a:t>UNITY STAIR-STEPPING IMPLEMENTATION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293552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8BE9833-B67D-B65F-3969-726D2FDAA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699" y="-15527"/>
            <a:ext cx="6305550" cy="35881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E12AF7-707A-D7EC-1ABB-0B20AE7D0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560" y="1044193"/>
            <a:ext cx="4943475" cy="53193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776A130-6FA3-2D08-9598-BB90AD82E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189" y="2734772"/>
            <a:ext cx="4941811" cy="37648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644D11-59DA-1C35-59EC-3CF9BCC588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5527"/>
            <a:ext cx="4138321" cy="53625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0F01AB-FCDD-78FD-836A-4467245D1B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565" y="2098981"/>
            <a:ext cx="3802134" cy="440067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D66BFDA-7913-14FA-2D61-6073C825E7EC}"/>
              </a:ext>
            </a:extLst>
          </p:cNvPr>
          <p:cNvGrpSpPr/>
          <p:nvPr/>
        </p:nvGrpSpPr>
        <p:grpSpPr>
          <a:xfrm>
            <a:off x="6095998" y="-123825"/>
            <a:ext cx="6229351" cy="933450"/>
            <a:chOff x="6095998" y="-123825"/>
            <a:chExt cx="6229351" cy="933450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7B32DA21-AA3A-803E-B878-403FB6DCD75C}"/>
                </a:ext>
              </a:extLst>
            </p:cNvPr>
            <p:cNvSpPr/>
            <p:nvPr/>
          </p:nvSpPr>
          <p:spPr>
            <a:xfrm rot="10800000">
              <a:off x="6095998" y="-123825"/>
              <a:ext cx="6229351" cy="933450"/>
            </a:xfrm>
            <a:prstGeom prst="snip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ooter Placeholder 4">
              <a:extLst>
                <a:ext uri="{FF2B5EF4-FFF2-40B4-BE49-F238E27FC236}">
                  <a16:creationId xmlns:a16="http://schemas.microsoft.com/office/drawing/2014/main" id="{E34EFA04-D04F-A4AB-57CB-2BD9094F0B0D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0"/>
              <a:ext cx="6096001" cy="8096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800" dirty="0"/>
                <a:t>GODOT STAIR-STEPPING IMPLEMENTATION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7790215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Godot vs. Unreal Engine: Level Loading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Game levels must be loaded before entering.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Godot </a:t>
            </a:r>
            <a:r>
              <a:rPr lang="en-US" dirty="0"/>
              <a:t>–</a:t>
            </a:r>
            <a:r>
              <a:rPr lang="en-US" b="1" dirty="0"/>
              <a:t> </a:t>
            </a:r>
            <a:r>
              <a:rPr lang="en-US" dirty="0"/>
              <a:t>Technically custom, but easy to do</a:t>
            </a:r>
          </a:p>
          <a:p>
            <a:pPr lvl="1"/>
            <a:r>
              <a:rPr lang="en-US" b="1" dirty="0"/>
              <a:t>Just instantiate some scenes!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Unreal Engine </a:t>
            </a:r>
            <a:r>
              <a:rPr lang="en-US" dirty="0"/>
              <a:t>– Different architecture than Godot, but similarly easy!</a:t>
            </a:r>
          </a:p>
          <a:p>
            <a:pPr lvl="1"/>
            <a:r>
              <a:rPr lang="en-US" b="1" dirty="0"/>
              <a:t>Just load the level!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2. Implementation Comparison 2</a:t>
            </a:r>
          </a:p>
        </p:txBody>
      </p:sp>
    </p:spTree>
    <p:extLst>
      <p:ext uri="{BB962C8B-B14F-4D97-AF65-F5344CB8AC3E}">
        <p14:creationId xmlns:p14="http://schemas.microsoft.com/office/powerpoint/2010/main" val="2961869701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7A021-F176-93EB-DEA9-43FFE3E41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F4A3034-010A-05F0-D851-DA148D28C0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7" r="18861"/>
          <a:stretch/>
        </p:blipFill>
        <p:spPr>
          <a:xfrm>
            <a:off x="1245169" y="0"/>
            <a:ext cx="5742227" cy="6475864"/>
          </a:xfrm>
          <a:prstGeom prst="rect">
            <a:avLst/>
          </a:prstGeom>
          <a:ln>
            <a:solidFill>
              <a:schemeClr val="accent6"/>
            </a:solidFill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1BA2600B-AF14-86C7-C9E4-9C3A05C472FA}"/>
              </a:ext>
            </a:extLst>
          </p:cNvPr>
          <p:cNvGrpSpPr/>
          <p:nvPr/>
        </p:nvGrpSpPr>
        <p:grpSpPr>
          <a:xfrm>
            <a:off x="6095998" y="-123825"/>
            <a:ext cx="6229351" cy="933450"/>
            <a:chOff x="6095998" y="-123825"/>
            <a:chExt cx="6229351" cy="933450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C8FF65B7-A56D-5DB1-12C5-78538A873F90}"/>
                </a:ext>
              </a:extLst>
            </p:cNvPr>
            <p:cNvSpPr/>
            <p:nvPr/>
          </p:nvSpPr>
          <p:spPr>
            <a:xfrm rot="10800000">
              <a:off x="6095998" y="-123825"/>
              <a:ext cx="6229351" cy="933450"/>
            </a:xfrm>
            <a:prstGeom prst="snip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ooter Placeholder 4">
              <a:extLst>
                <a:ext uri="{FF2B5EF4-FFF2-40B4-BE49-F238E27FC236}">
                  <a16:creationId xmlns:a16="http://schemas.microsoft.com/office/drawing/2014/main" id="{9FCD8AA3-C3F9-CB0F-382C-AEB62AB1498A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0"/>
              <a:ext cx="6096001" cy="8096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800" dirty="0"/>
                <a:t>GODOT LEVEL-LOADING IMPLEMENTATION</a:t>
              </a:r>
            </a:p>
          </p:txBody>
        </p:sp>
      </p:grpSp>
      <p:sp>
        <p:nvSpPr>
          <p:cNvPr id="7" name="Left Brace 6">
            <a:extLst>
              <a:ext uri="{FF2B5EF4-FFF2-40B4-BE49-F238E27FC236}">
                <a16:creationId xmlns:a16="http://schemas.microsoft.com/office/drawing/2014/main" id="{FF29394F-6359-D768-43EE-9C3438E151E1}"/>
              </a:ext>
            </a:extLst>
          </p:cNvPr>
          <p:cNvSpPr/>
          <p:nvPr/>
        </p:nvSpPr>
        <p:spPr>
          <a:xfrm>
            <a:off x="1343891" y="906696"/>
            <a:ext cx="907604" cy="1350349"/>
          </a:xfrm>
          <a:prstGeom prst="leftBrace">
            <a:avLst>
              <a:gd name="adj1" fmla="val 0"/>
              <a:gd name="adj2" fmla="val 50000"/>
            </a:avLst>
          </a:prstGeom>
          <a:noFill/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8FD196-9C02-4D1B-47DC-FA68EC901E75}"/>
              </a:ext>
            </a:extLst>
          </p:cNvPr>
          <p:cNvSpPr txBox="1"/>
          <p:nvPr/>
        </p:nvSpPr>
        <p:spPr>
          <a:xfrm>
            <a:off x="7211682" y="981705"/>
            <a:ext cx="498031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Load new scene (map)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Destroy current map</a:t>
            </a:r>
          </a:p>
          <a:p>
            <a:pPr lvl="1"/>
            <a:r>
              <a:rPr lang="en-US" sz="3200" dirty="0"/>
              <a:t>(if it exists)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Instantiate the loaded scene and add it to the scene tree.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081BD8-350F-B8DC-6E76-905D25ADDD16}"/>
              </a:ext>
            </a:extLst>
          </p:cNvPr>
          <p:cNvSpPr/>
          <p:nvPr/>
        </p:nvSpPr>
        <p:spPr>
          <a:xfrm>
            <a:off x="65657" y="981705"/>
            <a:ext cx="1313315" cy="120033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78B7A9B3-A89D-4528-18C0-A657C1B7E390}"/>
              </a:ext>
            </a:extLst>
          </p:cNvPr>
          <p:cNvSpPr/>
          <p:nvPr/>
        </p:nvSpPr>
        <p:spPr>
          <a:xfrm>
            <a:off x="1343891" y="5008416"/>
            <a:ext cx="907604" cy="1350349"/>
          </a:xfrm>
          <a:prstGeom prst="leftBrace">
            <a:avLst>
              <a:gd name="adj1" fmla="val 0"/>
              <a:gd name="adj2" fmla="val 50000"/>
            </a:avLst>
          </a:prstGeom>
          <a:noFill/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97F9FDA-DA25-F331-7A34-7A64B91B9CAF}"/>
              </a:ext>
            </a:extLst>
          </p:cNvPr>
          <p:cNvSpPr/>
          <p:nvPr/>
        </p:nvSpPr>
        <p:spPr>
          <a:xfrm>
            <a:off x="65660" y="5083425"/>
            <a:ext cx="1313315" cy="120033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0F7A4FBF-4DC6-7F87-30B3-F799E1B9697C}"/>
              </a:ext>
            </a:extLst>
          </p:cNvPr>
          <p:cNvSpPr/>
          <p:nvPr/>
        </p:nvSpPr>
        <p:spPr>
          <a:xfrm>
            <a:off x="1343891" y="2872596"/>
            <a:ext cx="907604" cy="759125"/>
          </a:xfrm>
          <a:prstGeom prst="leftBrace">
            <a:avLst>
              <a:gd name="adj1" fmla="val 0"/>
              <a:gd name="adj2" fmla="val 50000"/>
            </a:avLst>
          </a:prstGeom>
          <a:noFill/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F98EA08-AFF4-6380-2435-28971AAAD31C}"/>
              </a:ext>
            </a:extLst>
          </p:cNvPr>
          <p:cNvSpPr/>
          <p:nvPr/>
        </p:nvSpPr>
        <p:spPr>
          <a:xfrm>
            <a:off x="65658" y="2651993"/>
            <a:ext cx="1313315" cy="120033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13223410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8F84-2A50-13DE-332F-85D5F503C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629E8B-D89C-2C9A-0877-10321D2FD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811" y="0"/>
            <a:ext cx="6038987" cy="649368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1655313-7508-C791-875D-713CFEC64DC1}"/>
              </a:ext>
            </a:extLst>
          </p:cNvPr>
          <p:cNvGrpSpPr/>
          <p:nvPr/>
        </p:nvGrpSpPr>
        <p:grpSpPr>
          <a:xfrm>
            <a:off x="6095998" y="-123825"/>
            <a:ext cx="6229351" cy="933450"/>
            <a:chOff x="6095998" y="-123825"/>
            <a:chExt cx="6229351" cy="933450"/>
          </a:xfrm>
        </p:grpSpPr>
        <p:sp>
          <p:nvSpPr>
            <p:cNvPr id="7" name="Rectangle: Single Corner Snipped 6">
              <a:extLst>
                <a:ext uri="{FF2B5EF4-FFF2-40B4-BE49-F238E27FC236}">
                  <a16:creationId xmlns:a16="http://schemas.microsoft.com/office/drawing/2014/main" id="{EB08B0EC-56B0-BADC-24D8-54278806FB00}"/>
                </a:ext>
              </a:extLst>
            </p:cNvPr>
            <p:cNvSpPr/>
            <p:nvPr/>
          </p:nvSpPr>
          <p:spPr>
            <a:xfrm rot="10800000">
              <a:off x="6095998" y="-123825"/>
              <a:ext cx="6229351" cy="933450"/>
            </a:xfrm>
            <a:prstGeom prst="snip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ooter Placeholder 4">
              <a:extLst>
                <a:ext uri="{FF2B5EF4-FFF2-40B4-BE49-F238E27FC236}">
                  <a16:creationId xmlns:a16="http://schemas.microsoft.com/office/drawing/2014/main" id="{187D1179-4DF3-52B6-B074-1767CC806F75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0"/>
              <a:ext cx="6096001" cy="8096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800" dirty="0"/>
                <a:t>UNREAL LEVEL-LOADING IMPLEMENTATION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1F4A372-1958-DBFA-6CA0-B5804DB78593}"/>
              </a:ext>
            </a:extLst>
          </p:cNvPr>
          <p:cNvSpPr txBox="1"/>
          <p:nvPr/>
        </p:nvSpPr>
        <p:spPr>
          <a:xfrm>
            <a:off x="7459924" y="933451"/>
            <a:ext cx="4271411" cy="846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 Set up on-load functionality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The actual load call: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World Context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Level to load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Make level visible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Block while loading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/>
              <a:t>Callback info</a:t>
            </a:r>
          </a:p>
          <a:p>
            <a:pPr lvl="1"/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2060"/>
                </a:solidFill>
              </a:rPr>
              <a:t>Don’t have to care about unloading!</a:t>
            </a:r>
          </a:p>
          <a:p>
            <a:pPr marL="342900" indent="-342900">
              <a:buAutoNum type="arabicParenR"/>
            </a:pPr>
            <a:endParaRPr lang="en-US" sz="3200" dirty="0"/>
          </a:p>
          <a:p>
            <a:pPr marL="342900" indent="-342900">
              <a:buAutoNum type="arabicParenR"/>
            </a:pPr>
            <a:endParaRPr lang="en-US" sz="3200" dirty="0"/>
          </a:p>
          <a:p>
            <a:pPr marL="342900" indent="-342900">
              <a:buAutoNum type="arabicParenR"/>
            </a:pPr>
            <a:endParaRPr lang="en-US" sz="3200" dirty="0"/>
          </a:p>
          <a:p>
            <a:pPr marL="342900" indent="-342900">
              <a:buAutoNum type="arabicParenR"/>
            </a:pPr>
            <a:endParaRPr lang="en-US" sz="3200" dirty="0"/>
          </a:p>
          <a:p>
            <a:pPr marL="342900" indent="-342900">
              <a:buAutoNum type="arabicParenR"/>
            </a:pPr>
            <a:endParaRPr lang="en-US" sz="3200" dirty="0"/>
          </a:p>
          <a:p>
            <a:pPr marL="342900" indent="-342900">
              <a:buAutoNum type="arabicParenR"/>
            </a:pPr>
            <a:endParaRPr lang="en-US" sz="3200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BE7B3878-E1BE-63C7-20C1-A8EFE2ECCE8C}"/>
              </a:ext>
            </a:extLst>
          </p:cNvPr>
          <p:cNvSpPr/>
          <p:nvPr/>
        </p:nvSpPr>
        <p:spPr>
          <a:xfrm>
            <a:off x="1284812" y="1097558"/>
            <a:ext cx="907604" cy="1991779"/>
          </a:xfrm>
          <a:prstGeom prst="leftBrace">
            <a:avLst>
              <a:gd name="adj1" fmla="val 0"/>
              <a:gd name="adj2" fmla="val 50000"/>
            </a:avLst>
          </a:prstGeom>
          <a:noFill/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F8CEC363-5C82-5250-02E3-22B9B5C3EE15}"/>
              </a:ext>
            </a:extLst>
          </p:cNvPr>
          <p:cNvSpPr/>
          <p:nvPr/>
        </p:nvSpPr>
        <p:spPr>
          <a:xfrm>
            <a:off x="1284812" y="4017451"/>
            <a:ext cx="907604" cy="1653144"/>
          </a:xfrm>
          <a:prstGeom prst="leftBrace">
            <a:avLst>
              <a:gd name="adj1" fmla="val 0"/>
              <a:gd name="adj2" fmla="val 50000"/>
            </a:avLst>
          </a:prstGeom>
          <a:noFill/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3B26F0E-5C46-2186-6466-15F3A060B102}"/>
              </a:ext>
            </a:extLst>
          </p:cNvPr>
          <p:cNvSpPr/>
          <p:nvPr/>
        </p:nvSpPr>
        <p:spPr>
          <a:xfrm>
            <a:off x="41661" y="4243858"/>
            <a:ext cx="1313315" cy="120033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60E9ABE-5D52-4B96-647C-C457C29E7613}"/>
              </a:ext>
            </a:extLst>
          </p:cNvPr>
          <p:cNvSpPr/>
          <p:nvPr/>
        </p:nvSpPr>
        <p:spPr>
          <a:xfrm>
            <a:off x="41661" y="1493282"/>
            <a:ext cx="1313315" cy="120033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1497961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200" b="1" u="sng" dirty="0"/>
              <a:t>GODOT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dirty="0"/>
              <a:t>GDScript, similar to Python,  is easy to learn.</a:t>
            </a:r>
          </a:p>
          <a:p>
            <a:pPr lvl="1"/>
            <a:r>
              <a:rPr lang="en-US" sz="2800" dirty="0"/>
              <a:t>Can use C++ and C# as well.</a:t>
            </a:r>
          </a:p>
          <a:p>
            <a:r>
              <a:rPr lang="en-US" sz="3200" dirty="0"/>
              <a:t>Community-driven, completely free.</a:t>
            </a:r>
          </a:p>
          <a:p>
            <a:r>
              <a:rPr lang="en-US" sz="3200" dirty="0"/>
              <a:t>Growing popularity means more online tutorials.</a:t>
            </a:r>
          </a:p>
          <a:p>
            <a:pPr marL="0" indent="0" algn="ctr">
              <a:buNone/>
            </a:pPr>
            <a:r>
              <a:rPr lang="en-US" sz="3200" b="1" u="sng" dirty="0"/>
              <a:t>UNITY / UNREAL ENGINE</a:t>
            </a:r>
          </a:p>
          <a:p>
            <a:r>
              <a:rPr lang="en-US" sz="3200" dirty="0"/>
              <a:t>Already well established.</a:t>
            </a:r>
          </a:p>
          <a:p>
            <a:r>
              <a:rPr lang="en-US" sz="3200" dirty="0"/>
              <a:t>More tutorials available.</a:t>
            </a:r>
          </a:p>
          <a:p>
            <a:r>
              <a:rPr lang="en-US" sz="3200" dirty="0"/>
              <a:t>Subscriptions allow access to official support lines.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3. Should You Use Godot</a:t>
            </a:r>
          </a:p>
        </p:txBody>
      </p:sp>
    </p:spTree>
    <p:extLst>
      <p:ext uri="{BB962C8B-B14F-4D97-AF65-F5344CB8AC3E}">
        <p14:creationId xmlns:p14="http://schemas.microsoft.com/office/powerpoint/2010/main" val="3916845611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 3D action-platformer.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Melee combat system utilizing elements.</a:t>
            </a:r>
          </a:p>
          <a:p>
            <a:pPr lvl="1"/>
            <a:r>
              <a:rPr lang="en-US" dirty="0"/>
              <a:t>Earth, wind, and fire, not hydrogen, helium, and lithium.</a:t>
            </a:r>
          </a:p>
          <a:p>
            <a:r>
              <a:rPr lang="en-US" dirty="0"/>
              <a:t>Millions of humans are trapped within Cyberspace Online, a Virtual Reality platform.</a:t>
            </a:r>
          </a:p>
          <a:p>
            <a:r>
              <a:rPr lang="en-US" dirty="0"/>
              <a:t>The Player must fight their way to the top of the DATASPIRE, which is the center of the simulation.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4. DATASPIRE Game Project</a:t>
            </a:r>
          </a:p>
        </p:txBody>
      </p:sp>
    </p:spTree>
    <p:extLst>
      <p:ext uri="{BB962C8B-B14F-4D97-AF65-F5344CB8AC3E}">
        <p14:creationId xmlns:p14="http://schemas.microsoft.com/office/powerpoint/2010/main" val="2066725628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Three Singletons: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PlayerSettings</a:t>
            </a:r>
          </a:p>
          <a:p>
            <a:pPr lvl="1"/>
            <a:r>
              <a:rPr lang="en-US" dirty="0"/>
              <a:t>Loads and Saves settings. (Controls, Graphics, etc.)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GlobalScript</a:t>
            </a:r>
          </a:p>
          <a:p>
            <a:pPr lvl="1"/>
            <a:r>
              <a:rPr lang="en-US" dirty="0"/>
              <a:t>Global variables and functions for modifying game state.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ZetaScene</a:t>
            </a:r>
          </a:p>
          <a:p>
            <a:pPr lvl="1"/>
            <a:r>
              <a:rPr lang="en-US" dirty="0"/>
              <a:t>Holds UI elements and handles level loading.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4. Game Structure</a:t>
            </a:r>
          </a:p>
        </p:txBody>
      </p:sp>
    </p:spTree>
    <p:extLst>
      <p:ext uri="{BB962C8B-B14F-4D97-AF65-F5344CB8AC3E}">
        <p14:creationId xmlns:p14="http://schemas.microsoft.com/office/powerpoint/2010/main" val="3807045662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Showcasing: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Intro Animation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Main Menu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Loading Screen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Player HUD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Pause Menu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4. First Demo: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1470451217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Showcasing: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Level Loading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Ladders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Ziplines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Water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Portals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4. Second Demo: Game Map</a:t>
            </a:r>
          </a:p>
        </p:txBody>
      </p:sp>
    </p:spTree>
    <p:extLst>
      <p:ext uri="{BB962C8B-B14F-4D97-AF65-F5344CB8AC3E}">
        <p14:creationId xmlns:p14="http://schemas.microsoft.com/office/powerpoint/2010/main" val="2051692409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Showcasing: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Player Movement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Combat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Elemental Reactions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Knockback and Collision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4. Third Demo: Game Mechanics</a:t>
            </a:r>
          </a:p>
        </p:txBody>
      </p:sp>
    </p:spTree>
    <p:extLst>
      <p:ext uri="{BB962C8B-B14F-4D97-AF65-F5344CB8AC3E}">
        <p14:creationId xmlns:p14="http://schemas.microsoft.com/office/powerpoint/2010/main" val="3755607325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Showcasing: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Target Pathfinding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Attack Behavior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4. Last Demo: Entity Behavior</a:t>
            </a:r>
          </a:p>
        </p:txBody>
      </p:sp>
    </p:spTree>
    <p:extLst>
      <p:ext uri="{BB962C8B-B14F-4D97-AF65-F5344CB8AC3E}">
        <p14:creationId xmlns:p14="http://schemas.microsoft.com/office/powerpoint/2010/main" val="1054747669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r>
              <a:rPr lang="en-US" dirty="0"/>
              <a:t>We recommend it to any new developers looking to get into game development.</a:t>
            </a:r>
          </a:p>
          <a:p>
            <a:r>
              <a:rPr lang="en-US" dirty="0"/>
              <a:t>Godot is very powerful, though slightly limited in comparison to other engines.</a:t>
            </a:r>
          </a:p>
          <a:p>
            <a:r>
              <a:rPr lang="en-US" dirty="0"/>
              <a:t>This simplicity, however, makes it easier to learn and understand.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Final Thoughts</a:t>
            </a:r>
          </a:p>
        </p:txBody>
      </p:sp>
    </p:spTree>
    <p:extLst>
      <p:ext uri="{BB962C8B-B14F-4D97-AF65-F5344CB8AC3E}">
        <p14:creationId xmlns:p14="http://schemas.microsoft.com/office/powerpoint/2010/main" val="152865739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EBFB2-40F3-5416-282F-A01F87021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35437"/>
          </a:xfrm>
        </p:spPr>
        <p:txBody>
          <a:bodyPr anchor="ctr">
            <a:normAutofit/>
          </a:bodyPr>
          <a:lstStyle/>
          <a:p>
            <a:r>
              <a:rPr lang="en-US" sz="8000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574817807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717</Words>
  <Application>Microsoft Office PowerPoint</Application>
  <PresentationFormat>Widescreen</PresentationFormat>
  <Paragraphs>153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Wingdings</vt:lpstr>
      <vt:lpstr>Office Theme</vt:lpstr>
      <vt:lpstr>Efficacy of 3D Game Development in the Godot Game Engine</vt:lpstr>
      <vt:lpstr>Who We Are</vt:lpstr>
      <vt:lpstr>Our Objectives</vt:lpstr>
      <vt:lpstr>Our Goals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Efficacy of 3D Game Development in the Godot Game Engine</dc:title>
  <dc:creator>Jhems Wallace</dc:creator>
  <cp:lastModifiedBy>Jhems Wallace</cp:lastModifiedBy>
  <cp:revision>35</cp:revision>
  <dcterms:created xsi:type="dcterms:W3CDTF">2024-10-19T18:13:35Z</dcterms:created>
  <dcterms:modified xsi:type="dcterms:W3CDTF">2024-10-28T22:42:00Z</dcterms:modified>
</cp:coreProperties>
</file>