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2" r:id="rId4"/>
    <p:sldId id="279" r:id="rId5"/>
    <p:sldId id="259" r:id="rId6"/>
    <p:sldId id="268" r:id="rId7"/>
    <p:sldId id="300" r:id="rId8"/>
    <p:sldId id="263" r:id="rId9"/>
    <p:sldId id="280" r:id="rId10"/>
    <p:sldId id="264" r:id="rId11"/>
    <p:sldId id="269" r:id="rId12"/>
    <p:sldId id="270" r:id="rId13"/>
    <p:sldId id="267" r:id="rId14"/>
    <p:sldId id="278" r:id="rId15"/>
    <p:sldId id="277" r:id="rId16"/>
    <p:sldId id="298" r:id="rId17"/>
    <p:sldId id="299" r:id="rId18"/>
    <p:sldId id="272" r:id="rId19"/>
    <p:sldId id="297" r:id="rId20"/>
    <p:sldId id="273" r:id="rId21"/>
    <p:sldId id="293" r:id="rId22"/>
    <p:sldId id="296" r:id="rId23"/>
    <p:sldId id="294" r:id="rId24"/>
    <p:sldId id="295" r:id="rId25"/>
    <p:sldId id="289" r:id="rId26"/>
    <p:sldId id="3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1: Intro" id="{5D4F9425-FD17-467C-800D-3F88A884F4B9}">
          <p14:sldIdLst>
            <p14:sldId id="256"/>
            <p14:sldId id="257"/>
            <p14:sldId id="262"/>
            <p14:sldId id="279"/>
          </p14:sldIdLst>
        </p14:section>
        <p14:section name="Part 2: Godot, Unity, Unreal" id="{62C94310-7EF2-4E0F-99DB-72664CB60BDD}">
          <p14:sldIdLst>
            <p14:sldId id="259"/>
            <p14:sldId id="268"/>
            <p14:sldId id="300"/>
            <p14:sldId id="263"/>
            <p14:sldId id="280"/>
            <p14:sldId id="264"/>
            <p14:sldId id="269"/>
            <p14:sldId id="270"/>
            <p14:sldId id="267"/>
            <p14:sldId id="278"/>
            <p14:sldId id="277"/>
            <p14:sldId id="298"/>
            <p14:sldId id="299"/>
          </p14:sldIdLst>
        </p14:section>
        <p14:section name="Part 3: DATASPIRE" id="{3FF1D491-E682-4C95-B51A-2EFD12A77FCE}">
          <p14:sldIdLst>
            <p14:sldId id="272"/>
            <p14:sldId id="297"/>
            <p14:sldId id="273"/>
            <p14:sldId id="293"/>
            <p14:sldId id="296"/>
            <p14:sldId id="294"/>
            <p14:sldId id="295"/>
          </p14:sldIdLst>
        </p14:section>
        <p14:section name="Part 4: ENDING" id="{C9097B72-D0D3-433A-89EA-CC7F9A55E17E}">
          <p14:sldIdLst>
            <p14:sldId id="289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10" autoAdjust="0"/>
  </p:normalViewPr>
  <p:slideViewPr>
    <p:cSldViewPr snapToGrid="0">
      <p:cViewPr varScale="1">
        <p:scale>
          <a:sx n="111" d="100"/>
          <a:sy n="111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-1381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3F32-A42D-42F0-89B2-CBE0BA3FCE23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28EE0-F289-40D1-9495-9F5904F03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Native languages</a:t>
            </a:r>
          </a:p>
          <a:p>
            <a:pPr marL="171450" indent="-171450">
              <a:buFontTx/>
              <a:buChar char="-"/>
            </a:pPr>
            <a:r>
              <a:rPr lang="en-US" dirty="0"/>
              <a:t>Major version releases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Source-code accessibility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Free/paid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15E-6326-7BC5-22D3-69431B2A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2D45-B9CC-928D-655D-5A0AE514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4B57-77D1-75A4-5C4E-1962BCA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0E54-D569-C23F-733A-43BA4DE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14B8-6031-D8DD-86E6-B9EF26E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7075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E9BBFD-C28B-FF19-F3ED-21CE4DC651FB}"/>
              </a:ext>
            </a:extLst>
          </p:cNvPr>
          <p:cNvSpPr/>
          <p:nvPr userDrawn="1"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867A-3ED3-F50A-77F3-4BF06A56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1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780E-45BF-FCC1-CE64-ECDFC556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453428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11691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7E1-5979-D7C7-D6B7-519E7129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D031-2146-0618-7039-18EE2B61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A77-071B-C897-8EF3-340C254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C063-6401-24D4-81B3-F66AF31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69FF-2776-D426-F4DC-03E07E39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136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45A8-4A82-F5E1-0B11-D6CF1350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8A81-D97E-DCF3-C30C-E1DBEE45D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305FD-B795-0B4A-B720-AB2626F0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97B6-81E2-C66D-9284-370176B3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BD5C-D8C2-BA3F-C212-651FDDA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0EC-AA3C-D9CF-D020-9CEC4764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173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3F9-4D17-E83A-BFF5-0E254465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BE1E-4D8C-7175-1917-B2466A5C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B10B8-C8BE-6D6A-E368-54AD187A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A7ED-76CF-1339-682D-C57997750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5FAC-1DF6-E71B-162A-417D8D5C9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9AD97-4D27-68DE-47D9-F94076C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399-65AC-1E44-64BF-3386C10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9E5BD-E516-CD84-BB7B-8DCFFD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329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78F-0A69-78C0-7D10-3200C7E5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12C50-0B62-F8FA-C938-BB61AE4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62BF-2260-2493-F1C4-4708700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29A2C-65D4-D6CE-908C-F3A8B5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3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5F18-00F8-9900-1E11-A48C4EBC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841DF-907C-D61A-ECB8-D147795F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DC34-3537-2A5D-4F40-2EA37141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167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E5F6-E923-2AFD-0A11-E97293A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9D5B-2208-B73B-6083-DA9C541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E6E20-FA4A-BA5B-22C7-0A5DC1D3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5671-65C6-7EB6-CEC1-B5AA2EC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2D3A-23F0-C921-5014-E3ABFA4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06CC-F82C-D865-408F-3616423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63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B6F-8DBA-19BF-76F9-17B6053A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8AC98-2ED6-109D-BCF1-800C9E6A1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9CDD-AB85-204D-6D91-3BEC565C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291-3348-3F88-1B47-C8A8EAC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60721-B08E-EB31-9AED-C19F360B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50CD-FB32-138D-A429-FBE7808D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68304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46D1-100E-6579-E428-3949CF2D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A31D-7056-646F-0656-39108602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F4CF-20B6-7D4A-03A1-E85340C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2A3-BB8C-20CE-9099-6EE3AF4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8E4-51AF-3AE6-FEDA-28CF9ACB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01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D6B2-4E95-4CAA-3A01-F3E4D807C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24DA-62F3-4BF6-D5A7-9F9CEC5F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9056-39D9-535F-2E42-4EC776D6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B937-F507-6560-C266-CEC1582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6842-087B-022F-A7A7-D1E0B215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205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54C7C-CCD8-B00D-F279-CDD80EAF75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4C49B-9997-39D7-AD5C-DBB08E81D3AC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11C91-D9E5-0C51-D8B9-E268164C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4432-A6D8-FD32-1597-D3F24123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6EC3E8-158E-55AF-905B-1CC541C37FF8}"/>
              </a:ext>
            </a:extLst>
          </p:cNvPr>
          <p:cNvSpPr txBox="1">
            <a:spLocks/>
          </p:cNvSpPr>
          <p:nvPr userDrawn="1"/>
        </p:nvSpPr>
        <p:spPr>
          <a:xfrm>
            <a:off x="6095999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KENNETH W. // VANCE B.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2AC5BD-2013-F92D-989A-AA4C206D3505}"/>
              </a:ext>
            </a:extLst>
          </p:cNvPr>
          <p:cNvSpPr txBox="1">
            <a:spLocks/>
          </p:cNvSpPr>
          <p:nvPr userDrawn="1"/>
        </p:nvSpPr>
        <p:spPr>
          <a:xfrm>
            <a:off x="-2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12131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3B49D-EB6B-1AE1-42E7-83B0D5CDF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E5251-E441-3B5D-2B5D-A34D527F7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Efficacy of</a:t>
            </a:r>
            <a:br>
              <a:rPr lang="en-US" dirty="0"/>
            </a:br>
            <a:r>
              <a:rPr lang="en-US" dirty="0"/>
              <a:t>3D Game Development</a:t>
            </a:r>
            <a:br>
              <a:rPr lang="en-US" dirty="0"/>
            </a:br>
            <a:r>
              <a:rPr lang="en-US" dirty="0"/>
              <a:t>in the Godot 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6A2A-CFD7-51EE-D8FA-0EBA949F0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DATASPIRE GAME PROJECT</a:t>
            </a:r>
          </a:p>
          <a:p>
            <a:r>
              <a:rPr lang="en-US" sz="3600" dirty="0"/>
              <a:t>BY </a:t>
            </a:r>
            <a:r>
              <a:rPr lang="en-US" sz="3600" b="1" dirty="0"/>
              <a:t>KENNETH W.</a:t>
            </a:r>
            <a:r>
              <a:rPr lang="en-US" sz="3600" dirty="0"/>
              <a:t> AND </a:t>
            </a:r>
            <a:r>
              <a:rPr lang="en-US" sz="3600" b="1" dirty="0"/>
              <a:t>VANCE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F03D4-DA25-B187-0933-F17C0B64D48F}"/>
              </a:ext>
            </a:extLst>
          </p:cNvPr>
          <p:cNvSpPr/>
          <p:nvPr/>
        </p:nvSpPr>
        <p:spPr>
          <a:xfrm flipV="1">
            <a:off x="1524000" y="3533141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430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BAAED-C927-5BC3-F68A-C4626C906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DB4D7-90D4-B4E4-7739-29E64658F01E}"/>
              </a:ext>
            </a:extLst>
          </p:cNvPr>
          <p:cNvSpPr/>
          <p:nvPr/>
        </p:nvSpPr>
        <p:spPr>
          <a:xfrm>
            <a:off x="1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6293-348D-6EA6-7A79-152E9E928FCD}"/>
              </a:ext>
            </a:extLst>
          </p:cNvPr>
          <p:cNvSpPr/>
          <p:nvPr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We?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67F85-ADFE-83B1-DCD8-937DD7C07C5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58A-2C3B-1342-3302-50750E5D7600}"/>
              </a:ext>
            </a:extLst>
          </p:cNvPr>
          <p:cNvGrpSpPr/>
          <p:nvPr/>
        </p:nvGrpSpPr>
        <p:grpSpPr>
          <a:xfrm>
            <a:off x="-2" y="6492875"/>
            <a:ext cx="12192002" cy="365125"/>
            <a:chOff x="-2" y="6492875"/>
            <a:chExt cx="12192002" cy="365125"/>
          </a:xfrm>
        </p:grpSpPr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A9F395DD-3EE9-CF9E-EA63-4CE8A506B4E4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/>
                <a:t>KENNETH W. // VANCE B.</a:t>
              </a:r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4D7305F7-2B38-391D-251F-5DDFC256E3DA}"/>
                </a:ext>
              </a:extLst>
            </p:cNvPr>
            <p:cNvSpPr txBox="1">
              <a:spLocks/>
            </p:cNvSpPr>
            <p:nvPr/>
          </p:nvSpPr>
          <p:spPr>
            <a:xfrm>
              <a:off x="-2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DATASPIRE GAME PROJECT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7AB27BC-2D2C-1854-80A2-AC9D29B4BDB8}"/>
              </a:ext>
            </a:extLst>
          </p:cNvPr>
          <p:cNvSpPr/>
          <p:nvPr/>
        </p:nvSpPr>
        <p:spPr>
          <a:xfrm>
            <a:off x="838200" y="1630392"/>
            <a:ext cx="4941498" cy="45465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555423-9C76-BCAA-8C03-AF0E11AEE437}"/>
              </a:ext>
            </a:extLst>
          </p:cNvPr>
          <p:cNvSpPr/>
          <p:nvPr/>
        </p:nvSpPr>
        <p:spPr>
          <a:xfrm>
            <a:off x="6412304" y="1630391"/>
            <a:ext cx="4941498" cy="45465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Kenneth W.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Lead Developer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Focus: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Enemies, AI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User Interface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Player Physics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Player Movement</a:t>
            </a:r>
          </a:p>
          <a:p>
            <a:pPr lvl="1">
              <a:lnSpc>
                <a:spcPct val="100000"/>
              </a:lnSpc>
            </a:pPr>
            <a:endParaRPr lang="en-US" sz="2400" dirty="0"/>
          </a:p>
          <a:p>
            <a:pPr marL="457200" lvl="1" indent="0" algn="ctr">
              <a:lnSpc>
                <a:spcPct val="100000"/>
              </a:lnSpc>
              <a:buNone/>
            </a:pPr>
            <a:r>
              <a:rPr lang="en-US" sz="3600" b="1" dirty="0"/>
              <a:t>Vance B.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Developer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Focus: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Combat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Level Loading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Combo System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Elemental Reactions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29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Our Objectives?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gain a </a:t>
            </a:r>
            <a:r>
              <a:rPr lang="en-US" sz="3600" b="1" dirty="0"/>
              <a:t>basic understanding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How Godot works.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3D development in Godot.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</a:t>
            </a:r>
            <a:r>
              <a:rPr lang="en-US" sz="3600" b="1" dirty="0"/>
              <a:t>provide an overview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Our experience with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Implementation in Godot vs. Unity or Unreal Engine.</a:t>
            </a:r>
          </a:p>
        </p:txBody>
      </p:sp>
    </p:spTree>
    <p:extLst>
      <p:ext uri="{BB962C8B-B14F-4D97-AF65-F5344CB8AC3E}">
        <p14:creationId xmlns:p14="http://schemas.microsoft.com/office/powerpoint/2010/main" val="2631655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Our Goals?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2064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help new game developers</a:t>
            </a:r>
            <a:r>
              <a:rPr lang="en-US" sz="3600" dirty="0"/>
              <a:t>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Understand the basics of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Know if Godot is right for them.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create a 3D game </a:t>
            </a:r>
            <a:r>
              <a:rPr lang="en-US" sz="3600" dirty="0"/>
              <a:t>in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The </a:t>
            </a:r>
            <a:r>
              <a:rPr lang="en-US" sz="3200" b="1" dirty="0"/>
              <a:t>DATASPIRE Game Project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64113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game development engine.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multiple languages.</a:t>
            </a:r>
          </a:p>
          <a:p>
            <a:pPr lvl="1"/>
            <a:r>
              <a:rPr lang="en-US" i="1" dirty="0"/>
              <a:t>Primary language is GDScript.</a:t>
            </a:r>
          </a:p>
          <a:p>
            <a:pPr lvl="1"/>
            <a:r>
              <a:rPr lang="en-US" i="1"/>
              <a:t>Also supports C# and C++.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Utilizes </a:t>
            </a:r>
            <a:r>
              <a:rPr lang="en-US" i="1" dirty="0"/>
              <a:t>Nodes</a:t>
            </a:r>
            <a:r>
              <a:rPr lang="en-US" dirty="0"/>
              <a:t> and </a:t>
            </a:r>
            <a:r>
              <a:rPr lang="en-US" i="1" dirty="0"/>
              <a:t>Scenes</a:t>
            </a:r>
            <a:r>
              <a:rPr lang="en-US" dirty="0"/>
              <a:t>.</a:t>
            </a:r>
            <a:endParaRPr lang="en-US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10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649528" cy="453428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Nodes are </a:t>
            </a:r>
            <a:r>
              <a:rPr lang="en-US" b="1" dirty="0"/>
              <a:t>basic building blocks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Collision shapes, Meshes, </a:t>
            </a:r>
            <a:r>
              <a:rPr lang="en-US" i="1" dirty="0" err="1"/>
              <a:t>NavigationAgents</a:t>
            </a:r>
            <a:r>
              <a:rPr lang="en-US" i="1" dirty="0"/>
              <a:t>, etc.</a:t>
            </a:r>
          </a:p>
          <a:p>
            <a:r>
              <a:rPr lang="en-US" dirty="0"/>
              <a:t>Scenes are </a:t>
            </a:r>
            <a:r>
              <a:rPr lang="en-US" b="1" dirty="0"/>
              <a:t>collections of Nodes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Scripts can be added to Nodes to extend their functionality.</a:t>
            </a:r>
          </a:p>
          <a:p>
            <a:pPr lvl="1"/>
            <a:r>
              <a:rPr lang="en-US" dirty="0"/>
              <a:t>Scenes can be nested in other Scenes.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Godot Engine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C55587-8C80-44F6-F2B0-0250819EA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151" y="1642683"/>
            <a:ext cx="3369047" cy="45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951453" cy="4534280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Originally planned to use Unity.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Unity announced a revised licensing agreement, including a Runtime fee for all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Developers would be charged monthly, calculated per-installation once the game reached a specific revenue threshold.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Our Experience: Why Godot?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5255E7-340B-00AA-8101-5D90676F4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699" y="2415756"/>
            <a:ext cx="3914033" cy="29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905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/>
              <a:t>Godot…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Is easy to learn, hard to master.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Has a user friendly interface.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Has good documentation.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Has lots of community-made assets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Our Experience: Pros</a:t>
            </a:r>
          </a:p>
        </p:txBody>
      </p:sp>
    </p:spTree>
    <p:extLst>
      <p:ext uri="{BB962C8B-B14F-4D97-AF65-F5344CB8AC3E}">
        <p14:creationId xmlns:p14="http://schemas.microsoft.com/office/powerpoint/2010/main" val="289698753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/>
              <a:t>Godot…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Has a fewer online tutorials than other game engines.</a:t>
            </a:r>
          </a:p>
          <a:p>
            <a:pPr lvl="1"/>
            <a:r>
              <a:rPr lang="en-US" dirty="0"/>
              <a:t>Low popularity prior to 4.0 release.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Is missing features that are standard in other engines.</a:t>
            </a:r>
          </a:p>
          <a:p>
            <a:pPr lvl="1"/>
            <a:r>
              <a:rPr lang="en-US" i="1" dirty="0"/>
              <a:t>Such as…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Our Experience: Cons</a:t>
            </a:r>
          </a:p>
        </p:txBody>
      </p:sp>
    </p:spTree>
    <p:extLst>
      <p:ext uri="{BB962C8B-B14F-4D97-AF65-F5344CB8AC3E}">
        <p14:creationId xmlns:p14="http://schemas.microsoft.com/office/powerpoint/2010/main" val="8314906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Unity: Player Stair-stepping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Stair-stepping allows players to walk up stair steps without needing to jump over them.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Unity</a:t>
            </a:r>
            <a:r>
              <a:rPr lang="en-US" dirty="0"/>
              <a:t> - Built-in; define a maximum step height with </a:t>
            </a:r>
            <a:r>
              <a:rPr lang="en-US" dirty="0" err="1"/>
              <a:t>stepOffset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</a:t>
            </a:r>
            <a:r>
              <a:rPr lang="en-US" dirty="0"/>
              <a:t> – “Custom” implementation needed.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First Comparison</a:t>
            </a:r>
          </a:p>
        </p:txBody>
      </p:sp>
    </p:spTree>
    <p:extLst>
      <p:ext uri="{BB962C8B-B14F-4D97-AF65-F5344CB8AC3E}">
        <p14:creationId xmlns:p14="http://schemas.microsoft.com/office/powerpoint/2010/main" val="323091713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D1AC03-4934-59F8-5DD5-362E6B8A4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0" t="6686" r="24968" b="117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89A15-EAEF-6A1F-B362-4246B0696583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0CA6DBBD-4C0D-783C-D3EC-E0D0FD7C5CA9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BDDBF607-8695-0809-A198-52D590B34509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UNITY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2935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BE9833-B67D-B65F-3969-726D2FDA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99" y="-15527"/>
            <a:ext cx="6305550" cy="3588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12AF7-707A-D7EC-1ABB-0B20AE7D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0" y="1044193"/>
            <a:ext cx="4943475" cy="5319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6A130-6FA3-2D08-9598-BB90AD82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189" y="2734772"/>
            <a:ext cx="4941811" cy="3764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44D11-59DA-1C35-59EC-3CF9BCC58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5527"/>
            <a:ext cx="4138321" cy="5362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F01AB-FCDD-78FD-836A-4467245D1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65" y="2098981"/>
            <a:ext cx="3802134" cy="440067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6BFDA-7913-14FA-2D61-6073C825E7EC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7B32DA21-AA3A-803E-B878-403FB6DCD75C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E34EFA04-D04F-A4AB-57CB-2BD9094F0B0D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79021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Unreal Engine: Level Loading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Game levels must be loaded before entering.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 </a:t>
            </a:r>
            <a:r>
              <a:rPr lang="en-US" dirty="0"/>
              <a:t>–</a:t>
            </a:r>
            <a:r>
              <a:rPr lang="en-US" b="1" dirty="0"/>
              <a:t> </a:t>
            </a:r>
            <a:r>
              <a:rPr lang="en-US" dirty="0"/>
              <a:t>Technically custom, but easy to do</a:t>
            </a:r>
          </a:p>
          <a:p>
            <a:pPr lvl="1"/>
            <a:r>
              <a:rPr lang="en-US" b="1" dirty="0"/>
              <a:t>Just instantiate some scenes!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Unreal Engine </a:t>
            </a:r>
            <a:r>
              <a:rPr lang="en-US" dirty="0"/>
              <a:t>– Different architecture than Godot, but similarly easy!</a:t>
            </a:r>
          </a:p>
          <a:p>
            <a:pPr lvl="1"/>
            <a:r>
              <a:rPr lang="en-US" b="1" dirty="0"/>
              <a:t>Just load the level!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Second Comparison</a:t>
            </a:r>
          </a:p>
        </p:txBody>
      </p:sp>
    </p:spTree>
    <p:extLst>
      <p:ext uri="{BB962C8B-B14F-4D97-AF65-F5344CB8AC3E}">
        <p14:creationId xmlns:p14="http://schemas.microsoft.com/office/powerpoint/2010/main" val="296186970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021-F176-93EB-DEA9-43FFE3E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3ADB9D-41FB-D886-A12C-3A5CE991F766}"/>
              </a:ext>
            </a:extLst>
          </p:cNvPr>
          <p:cNvSpPr/>
          <p:nvPr/>
        </p:nvSpPr>
        <p:spPr>
          <a:xfrm>
            <a:off x="7211682" y="967509"/>
            <a:ext cx="4980318" cy="490878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F4A3034-010A-05F0-D851-DA148D28C0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7" r="18861"/>
          <a:stretch/>
        </p:blipFill>
        <p:spPr>
          <a:xfrm>
            <a:off x="1245169" y="0"/>
            <a:ext cx="5742227" cy="647586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A2600B-AF14-86C7-C9E4-9C3A05C472FA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C8FF65B7-A56D-5DB1-12C5-78538A873F9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9FCD8AA3-C3F9-CB0F-382C-AEB62AB1498A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LEVEL-LOADING IMPLEMENTATION</a:t>
              </a:r>
            </a:p>
          </p:txBody>
        </p:sp>
      </p:grpSp>
      <p:sp>
        <p:nvSpPr>
          <p:cNvPr id="7" name="Left Brace 6">
            <a:extLst>
              <a:ext uri="{FF2B5EF4-FFF2-40B4-BE49-F238E27FC236}">
                <a16:creationId xmlns:a16="http://schemas.microsoft.com/office/drawing/2014/main" id="{FF29394F-6359-D768-43EE-9C3438E151E1}"/>
              </a:ext>
            </a:extLst>
          </p:cNvPr>
          <p:cNvSpPr/>
          <p:nvPr/>
        </p:nvSpPr>
        <p:spPr>
          <a:xfrm>
            <a:off x="1343891" y="90669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FD196-9C02-4D1B-47DC-FA68EC901E75}"/>
              </a:ext>
            </a:extLst>
          </p:cNvPr>
          <p:cNvSpPr txBox="1"/>
          <p:nvPr/>
        </p:nvSpPr>
        <p:spPr>
          <a:xfrm>
            <a:off x="7211682" y="981705"/>
            <a:ext cx="49803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Load new scene (map)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Destroy current map</a:t>
            </a:r>
          </a:p>
          <a:p>
            <a:pPr lvl="1"/>
            <a:r>
              <a:rPr lang="en-US" sz="3200" dirty="0"/>
              <a:t>(if it exists)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Instantiate the loaded scene and add it to the scene tree.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081BD8-350F-B8DC-6E76-905D25ADDD16}"/>
              </a:ext>
            </a:extLst>
          </p:cNvPr>
          <p:cNvSpPr/>
          <p:nvPr/>
        </p:nvSpPr>
        <p:spPr>
          <a:xfrm>
            <a:off x="65657" y="98170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8B7A9B3-A89D-4528-18C0-A657C1B7E390}"/>
              </a:ext>
            </a:extLst>
          </p:cNvPr>
          <p:cNvSpPr/>
          <p:nvPr/>
        </p:nvSpPr>
        <p:spPr>
          <a:xfrm>
            <a:off x="1343891" y="500841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7F9FDA-DA25-F331-7A34-7A64B91B9CAF}"/>
              </a:ext>
            </a:extLst>
          </p:cNvPr>
          <p:cNvSpPr/>
          <p:nvPr/>
        </p:nvSpPr>
        <p:spPr>
          <a:xfrm>
            <a:off x="65660" y="508342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F7A4FBF-4DC6-7F87-30B3-F799E1B9697C}"/>
              </a:ext>
            </a:extLst>
          </p:cNvPr>
          <p:cNvSpPr/>
          <p:nvPr/>
        </p:nvSpPr>
        <p:spPr>
          <a:xfrm>
            <a:off x="1343891" y="2872596"/>
            <a:ext cx="907604" cy="759125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8EA08-AFF4-6380-2435-28971AAAD31C}"/>
              </a:ext>
            </a:extLst>
          </p:cNvPr>
          <p:cNvSpPr/>
          <p:nvPr/>
        </p:nvSpPr>
        <p:spPr>
          <a:xfrm>
            <a:off x="65658" y="2651993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322341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8F84-2A50-13DE-332F-85D5F503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C97553-803D-AE2E-6FF0-B7938755112A}"/>
              </a:ext>
            </a:extLst>
          </p:cNvPr>
          <p:cNvSpPr/>
          <p:nvPr/>
        </p:nvSpPr>
        <p:spPr>
          <a:xfrm>
            <a:off x="7459924" y="967508"/>
            <a:ext cx="4732076" cy="55261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29E8B-D89C-2C9A-0877-10321D2F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11" y="0"/>
            <a:ext cx="6038987" cy="64936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1655313-7508-C791-875D-713CFEC64DC1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EB08B0EC-56B0-BADC-24D8-54278806FB0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187D1179-4DF3-52B6-B074-1767CC806F75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UNREAL LEVEL-LOADING IMPLEMENTATION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F4A372-1958-DBFA-6CA0-B5804DB78593}"/>
              </a:ext>
            </a:extLst>
          </p:cNvPr>
          <p:cNvSpPr txBox="1"/>
          <p:nvPr/>
        </p:nvSpPr>
        <p:spPr>
          <a:xfrm>
            <a:off x="7459924" y="933451"/>
            <a:ext cx="4271411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 Set up on-load functionality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 actual load call: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World Context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Level to load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Make level visible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Block while loading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Callback info</a:t>
            </a:r>
          </a:p>
          <a:p>
            <a:pPr lvl="1"/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2060"/>
                </a:solidFill>
              </a:rPr>
              <a:t>Don’t have to care about unloading!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E7B3878-E1BE-63C7-20C1-A8EFE2ECCE8C}"/>
              </a:ext>
            </a:extLst>
          </p:cNvPr>
          <p:cNvSpPr/>
          <p:nvPr/>
        </p:nvSpPr>
        <p:spPr>
          <a:xfrm>
            <a:off x="1284812" y="1097558"/>
            <a:ext cx="907604" cy="199177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8CEC363-5C82-5250-02E3-22B9B5C3EE15}"/>
              </a:ext>
            </a:extLst>
          </p:cNvPr>
          <p:cNvSpPr/>
          <p:nvPr/>
        </p:nvSpPr>
        <p:spPr>
          <a:xfrm>
            <a:off x="1284812" y="4017451"/>
            <a:ext cx="907604" cy="1653144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B26F0E-5C46-2186-6466-15F3A060B102}"/>
              </a:ext>
            </a:extLst>
          </p:cNvPr>
          <p:cNvSpPr/>
          <p:nvPr/>
        </p:nvSpPr>
        <p:spPr>
          <a:xfrm>
            <a:off x="41661" y="4243858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0E9ABE-5D52-4B96-647C-C457C29E7613}"/>
              </a:ext>
            </a:extLst>
          </p:cNvPr>
          <p:cNvSpPr/>
          <p:nvPr/>
        </p:nvSpPr>
        <p:spPr>
          <a:xfrm>
            <a:off x="41661" y="1493282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49796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General Comparison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535190A-9E03-9ED3-1031-584147A73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97693"/>
              </p:ext>
            </p:extLst>
          </p:nvPr>
        </p:nvGraphicFramePr>
        <p:xfrm>
          <a:off x="94411" y="1539174"/>
          <a:ext cx="12003177" cy="447564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1059">
                  <a:extLst>
                    <a:ext uri="{9D8B030D-6E8A-4147-A177-3AD203B41FA5}">
                      <a16:colId xmlns:a16="http://schemas.microsoft.com/office/drawing/2014/main" val="2139830605"/>
                    </a:ext>
                  </a:extLst>
                </a:gridCol>
                <a:gridCol w="4001059">
                  <a:extLst>
                    <a:ext uri="{9D8B030D-6E8A-4147-A177-3AD203B41FA5}">
                      <a16:colId xmlns:a16="http://schemas.microsoft.com/office/drawing/2014/main" val="3629892770"/>
                    </a:ext>
                  </a:extLst>
                </a:gridCol>
                <a:gridCol w="4001059">
                  <a:extLst>
                    <a:ext uri="{9D8B030D-6E8A-4147-A177-3AD203B41FA5}">
                      <a16:colId xmlns:a16="http://schemas.microsoft.com/office/drawing/2014/main" val="3453606424"/>
                    </a:ext>
                  </a:extLst>
                </a:gridCol>
              </a:tblGrid>
              <a:tr h="608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GODOT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UNREAL 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0743799"/>
                  </a:ext>
                </a:extLst>
              </a:tr>
              <a:tr h="6087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GDScript, C#, C++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C#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C++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107609"/>
                  </a:ext>
                </a:extLst>
              </a:tr>
              <a:tr h="60878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Godot 3: 2018</a:t>
                      </a:r>
                    </a:p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Godot 4: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Unity 5: 2015</a:t>
                      </a:r>
                    </a:p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Unity 6: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UE4: 2014</a:t>
                      </a:r>
                    </a:p>
                    <a:p>
                      <a:pPr algn="ctr"/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UE5: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014517"/>
                  </a:ext>
                </a:extLst>
              </a:tr>
              <a:tr h="6087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License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911634"/>
                  </a:ext>
                </a:extLst>
              </a:tr>
              <a:tr h="182634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engine is completely free, allowing anyone to download or contribute.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and Paid: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for personal projects.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Paid for commercial games.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Royalty-based: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owe a percentage of your game’s sales to Epic Games, the creators of Unreal Engine.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85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24487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Scripting (GDScript) is easy to learn.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Completely free.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Growing popularity will lead to more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Lightweight compared to other engines.</a:t>
            </a:r>
          </a:p>
          <a:p>
            <a:pPr lvl="1"/>
            <a:r>
              <a:rPr lang="en-US" dirty="0"/>
              <a:t>Godot 4: ~190MB</a:t>
            </a:r>
          </a:p>
          <a:p>
            <a:pPr lvl="1"/>
            <a:r>
              <a:rPr lang="en-US" dirty="0"/>
              <a:t>Unity 5: ~9.5GB</a:t>
            </a:r>
          </a:p>
          <a:p>
            <a:pPr lvl="1"/>
            <a:r>
              <a:rPr lang="en-US" dirty="0"/>
              <a:t>Unreal Engine 5: ~10-15GB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Should You Use Godot?</a:t>
            </a:r>
          </a:p>
        </p:txBody>
      </p:sp>
    </p:spTree>
    <p:extLst>
      <p:ext uri="{BB962C8B-B14F-4D97-AF65-F5344CB8AC3E}">
        <p14:creationId xmlns:p14="http://schemas.microsoft.com/office/powerpoint/2010/main" val="2682111947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3D action-platformer.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First-person melee combat system with combos and elemental reactions.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Millions of humans are trapped within Cyberspace Online, a Virtual Reality platform.</a:t>
            </a:r>
          </a:p>
          <a:p>
            <a:r>
              <a:rPr lang="en-US" dirty="0"/>
              <a:t>The Player must fight their way to the top of the DATASPIRE, which is the center of the simulation.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206672562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264" y="1642683"/>
            <a:ext cx="8981536" cy="453428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09-16-2023</a:t>
            </a:r>
            <a:r>
              <a:rPr lang="en-US" dirty="0"/>
              <a:t>: Project Started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12-27-2023</a:t>
            </a:r>
            <a:r>
              <a:rPr lang="en-US" dirty="0"/>
              <a:t>: Player Movement Started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01-06-2024</a:t>
            </a:r>
            <a:r>
              <a:rPr lang="en-US" dirty="0"/>
              <a:t>: Test Map Created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05-10-2024</a:t>
            </a:r>
            <a:r>
              <a:rPr lang="en-US" dirty="0"/>
              <a:t>: AI and Pathfinding Started</a:t>
            </a:r>
          </a:p>
          <a:p>
            <a:pPr>
              <a:lnSpc>
                <a:spcPct val="100000"/>
              </a:lnSpc>
            </a:pPr>
            <a:r>
              <a:rPr lang="en-US" b="1" dirty="0"/>
              <a:t>05-17-2024</a:t>
            </a:r>
            <a:r>
              <a:rPr lang="en-US" dirty="0"/>
              <a:t>: Combat System Started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11-10-2024</a:t>
            </a:r>
            <a:r>
              <a:rPr lang="en-US" dirty="0"/>
              <a:t>: Presentation Demo Finished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Rough Project Timeline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202141-02F9-82E9-E4F6-DEADD6C41CFF}"/>
              </a:ext>
            </a:extLst>
          </p:cNvPr>
          <p:cNvSpPr txBox="1">
            <a:spLocks/>
          </p:cNvSpPr>
          <p:nvPr/>
        </p:nvSpPr>
        <p:spPr>
          <a:xfrm>
            <a:off x="838200" y="1897062"/>
            <a:ext cx="1232141" cy="1067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2023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61A1F8E-32DE-6526-FD3F-A540C104DA34}"/>
              </a:ext>
            </a:extLst>
          </p:cNvPr>
          <p:cNvSpPr/>
          <p:nvPr/>
        </p:nvSpPr>
        <p:spPr>
          <a:xfrm>
            <a:off x="1228186" y="2439444"/>
            <a:ext cx="452168" cy="298862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477A8DD-7C22-F7DA-F7A9-D7A568E41073}"/>
              </a:ext>
            </a:extLst>
          </p:cNvPr>
          <p:cNvSpPr txBox="1">
            <a:spLocks/>
          </p:cNvSpPr>
          <p:nvPr/>
        </p:nvSpPr>
        <p:spPr>
          <a:xfrm>
            <a:off x="838201" y="5428072"/>
            <a:ext cx="1232140" cy="5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66209296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Three Singletons: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PlayerSettings</a:t>
            </a:r>
          </a:p>
          <a:p>
            <a:pPr lvl="1"/>
            <a:r>
              <a:rPr lang="en-US" dirty="0"/>
              <a:t>Loads and Saves settings. (Controls, Graphics, etc.)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GlobalScript</a:t>
            </a:r>
          </a:p>
          <a:p>
            <a:pPr lvl="1"/>
            <a:r>
              <a:rPr lang="en-US" dirty="0"/>
              <a:t>Global variables and functions for modifying game state.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ZetaScene</a:t>
            </a:r>
          </a:p>
          <a:p>
            <a:pPr lvl="1"/>
            <a:r>
              <a:rPr lang="en-US" dirty="0"/>
              <a:t>Holds UI elements and handles level loading.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Game Structure</a:t>
            </a:r>
          </a:p>
        </p:txBody>
      </p:sp>
    </p:spTree>
    <p:extLst>
      <p:ext uri="{BB962C8B-B14F-4D97-AF65-F5344CB8AC3E}">
        <p14:creationId xmlns:p14="http://schemas.microsoft.com/office/powerpoint/2010/main" val="3807045662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Intro Animation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Main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Loading Screen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Player HUD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Pause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First Demo: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47045121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Ladders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Ziplines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Water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Portals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Second Demo: Game Map</a:t>
            </a:r>
          </a:p>
        </p:txBody>
      </p:sp>
    </p:spTree>
    <p:extLst>
      <p:ext uri="{BB962C8B-B14F-4D97-AF65-F5344CB8AC3E}">
        <p14:creationId xmlns:p14="http://schemas.microsoft.com/office/powerpoint/2010/main" val="205169240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Player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Combat System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Elemental Reactions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Combo Systems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Knockback and Collision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Third Demo: Game Mechanics</a:t>
            </a:r>
          </a:p>
        </p:txBody>
      </p:sp>
    </p:spTree>
    <p:extLst>
      <p:ext uri="{BB962C8B-B14F-4D97-AF65-F5344CB8AC3E}">
        <p14:creationId xmlns:p14="http://schemas.microsoft.com/office/powerpoint/2010/main" val="3755607325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Target Pathfinding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Attack Behavior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Entity Factions and Targeting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Last Demo: Entity Behavior</a:t>
            </a:r>
          </a:p>
        </p:txBody>
      </p:sp>
    </p:spTree>
    <p:extLst>
      <p:ext uri="{BB962C8B-B14F-4D97-AF65-F5344CB8AC3E}">
        <p14:creationId xmlns:p14="http://schemas.microsoft.com/office/powerpoint/2010/main" val="1054747669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 anchor="ctr">
            <a:normAutofit/>
          </a:bodyPr>
          <a:lstStyle/>
          <a:p>
            <a:r>
              <a:rPr lang="en-US" dirty="0"/>
              <a:t>We recommend it to any developers looking to get into game development.</a:t>
            </a:r>
          </a:p>
          <a:p>
            <a:r>
              <a:rPr lang="en-US" dirty="0"/>
              <a:t>Godot is powerful, but lacks the massive complexity of other game engines.</a:t>
            </a:r>
          </a:p>
          <a:p>
            <a:r>
              <a:rPr lang="en-US" dirty="0"/>
              <a:t>This simplicity makes Godot simpler and easier to learn.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152865739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966196-2FF6-D0AD-89AF-A7A9C613586C}"/>
              </a:ext>
            </a:extLst>
          </p:cNvPr>
          <p:cNvSpPr/>
          <p:nvPr/>
        </p:nvSpPr>
        <p:spPr>
          <a:xfrm>
            <a:off x="838200" y="3186506"/>
            <a:ext cx="5036390" cy="2990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1F895-BF73-3C44-AC60-DA283E031995}"/>
              </a:ext>
            </a:extLst>
          </p:cNvPr>
          <p:cNvSpPr/>
          <p:nvPr/>
        </p:nvSpPr>
        <p:spPr>
          <a:xfrm>
            <a:off x="5986732" y="3186506"/>
            <a:ext cx="5367071" cy="29904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2544E3-80DA-CDA3-533E-16873E387628}"/>
              </a:ext>
            </a:extLst>
          </p:cNvPr>
          <p:cNvSpPr txBox="1">
            <a:spLocks/>
          </p:cNvSpPr>
          <p:nvPr/>
        </p:nvSpPr>
        <p:spPr>
          <a:xfrm>
            <a:off x="838200" y="3186506"/>
            <a:ext cx="10515600" cy="3033139"/>
          </a:xfrm>
          <a:prstGeom prst="rect">
            <a:avLst/>
          </a:prstGeom>
        </p:spPr>
        <p:txBody>
          <a:bodyPr vert="horz" lIns="91440" tIns="45720" rIns="91440" bIns="45720" numCol="2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Kenneth W.</a:t>
            </a:r>
            <a:endParaRPr lang="en-US" sz="2800" dirty="0"/>
          </a:p>
          <a:p>
            <a:r>
              <a:rPr lang="en-US" sz="2800" dirty="0"/>
              <a:t>jhekwall@ut.utm.edu</a:t>
            </a:r>
          </a:p>
          <a:p>
            <a:r>
              <a:rPr lang="en-US" sz="2800" dirty="0"/>
              <a:t>linkedin.com/in/</a:t>
            </a:r>
            <a:r>
              <a:rPr lang="en-US" sz="2800" dirty="0" err="1"/>
              <a:t>jhems-wallace</a:t>
            </a:r>
            <a:r>
              <a:rPr lang="en-US" sz="2800" dirty="0"/>
              <a:t>/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r>
              <a:rPr lang="en-US" b="1" dirty="0"/>
              <a:t>Vance B.</a:t>
            </a:r>
          </a:p>
          <a:p>
            <a:r>
              <a:rPr lang="en-US" sz="2800" dirty="0"/>
              <a:t>vanabren@ut.utm.edu</a:t>
            </a:r>
          </a:p>
          <a:p>
            <a:r>
              <a:rPr lang="en-US" sz="2800" dirty="0"/>
              <a:t>linkedin.com/in/vance-brender-a-brandis-17501a32a/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1333430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Q&amp;A Time</a:t>
            </a:r>
          </a:p>
          <a:p>
            <a:pPr marL="0" indent="0">
              <a:buNone/>
            </a:pPr>
            <a:r>
              <a:rPr lang="en-US" dirty="0"/>
              <a:t>Contact Information: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35411173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923</Words>
  <Application>Microsoft Office PowerPoint</Application>
  <PresentationFormat>Widescreen</PresentationFormat>
  <Paragraphs>205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Efficacy of 3D Game Development in the Godot Game Engine</vt:lpstr>
      <vt:lpstr>Who Are We?</vt:lpstr>
      <vt:lpstr>What Are Our Objectives?</vt:lpstr>
      <vt:lpstr>What Are Our Goals?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Efficacy of 3D Game Development in the Godot Game Engine</dc:title>
  <dc:creator>Jhems Wallace</dc:creator>
  <cp:lastModifiedBy>Jhems Wallace</cp:lastModifiedBy>
  <cp:revision>71</cp:revision>
  <dcterms:created xsi:type="dcterms:W3CDTF">2024-10-19T18:13:35Z</dcterms:created>
  <dcterms:modified xsi:type="dcterms:W3CDTF">2024-11-10T21:32:27Z</dcterms:modified>
</cp:coreProperties>
</file>