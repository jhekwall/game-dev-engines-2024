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4" r:id="rId10"/>
    <p:sldId id="269" r:id="rId11"/>
    <p:sldId id="268" r:id="rId12"/>
    <p:sldId id="260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042"/>
    <a:srgbClr val="0563C1"/>
    <a:srgbClr val="FFFFFF"/>
    <a:srgbClr val="478CB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37" autoAdjust="0"/>
  </p:normalViewPr>
  <p:slideViewPr>
    <p:cSldViewPr snapToGrid="0">
      <p:cViewPr varScale="1">
        <p:scale>
          <a:sx n="103" d="100"/>
          <a:sy n="103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E2017-FE41-4D48-BD68-06FDFA25DF3A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560363E7-3FB7-443A-BADF-61B9677780E0}">
      <dgm:prSet phldrT="[Text]"/>
      <dgm:spPr/>
      <dgm:t>
        <a:bodyPr/>
        <a:lstStyle/>
        <a:p>
          <a:r>
            <a:rPr lang="en-US" dirty="0">
              <a:solidFill>
                <a:srgbClr val="FFFFFF"/>
              </a:solidFill>
              <a:latin typeface="Arial Rounded MT Bold" panose="020F0704030504030204" pitchFamily="34" charset="0"/>
            </a:rPr>
            <a:t>“</a:t>
          </a:r>
          <a:r>
            <a:rPr lang="en-US" dirty="0" err="1">
              <a:solidFill>
                <a:srgbClr val="FFFFFF"/>
              </a:solidFill>
              <a:latin typeface="Arial Rounded MT Bold" panose="020F0704030504030204" pitchFamily="34" charset="0"/>
            </a:rPr>
            <a:t>Larvotor</a:t>
          </a:r>
          <a:r>
            <a:rPr lang="en-US" dirty="0">
              <a:solidFill>
                <a:srgbClr val="FFFFFF"/>
              </a:solidFill>
              <a:latin typeface="Arial Rounded MT Bold" panose="020F0704030504030204" pitchFamily="34" charset="0"/>
            </a:rPr>
            <a:t>” game engine created</a:t>
          </a:r>
        </a:p>
        <a:p>
          <a:r>
            <a:rPr lang="en-US" b="1" u="sng" dirty="0">
              <a:solidFill>
                <a:srgbClr val="FFFFFF"/>
              </a:solidFill>
              <a:latin typeface="Arial Rounded MT Bold" panose="020F0704030504030204" pitchFamily="34" charset="0"/>
            </a:rPr>
            <a:t>2001</a:t>
          </a:r>
        </a:p>
      </dgm:t>
    </dgm:pt>
    <dgm:pt modelId="{DC8B2006-3607-4F26-83F0-D75DFEC78459}" type="parTrans" cxnId="{F0BD29AB-5EBC-4BD2-A62A-A5B1F629B232}">
      <dgm:prSet/>
      <dgm:spPr/>
      <dgm:t>
        <a:bodyPr/>
        <a:lstStyle/>
        <a:p>
          <a:endParaRPr lang="en-US"/>
        </a:p>
      </dgm:t>
    </dgm:pt>
    <dgm:pt modelId="{9E313D51-3D51-4F74-9C38-93AAB566CA2B}" type="sibTrans" cxnId="{F0BD29AB-5EBC-4BD2-A62A-A5B1F629B232}">
      <dgm:prSet/>
      <dgm:spPr/>
      <dgm:t>
        <a:bodyPr/>
        <a:lstStyle/>
        <a:p>
          <a:endParaRPr lang="en-US"/>
        </a:p>
      </dgm:t>
    </dgm:pt>
    <dgm:pt modelId="{309A3D4D-B09F-4CC9-B639-FFF8295D277D}">
      <dgm:prSet phldrT="[Text]"/>
      <dgm:spPr/>
      <dgm:t>
        <a:bodyPr/>
        <a:lstStyle/>
        <a:p>
          <a:r>
            <a:rPr lang="en-US" dirty="0">
              <a:solidFill>
                <a:srgbClr val="FFFFFF"/>
              </a:solidFill>
              <a:latin typeface="Arial Rounded MT Bold" panose="020F0704030504030204" pitchFamily="34" charset="0"/>
            </a:rPr>
            <a:t>Godot 4.0 released</a:t>
          </a:r>
        </a:p>
        <a:p>
          <a:r>
            <a:rPr lang="en-US" b="1" u="sng" dirty="0">
              <a:solidFill>
                <a:srgbClr val="FFFFFF"/>
              </a:solidFill>
              <a:latin typeface="Arial Rounded MT Bold" panose="020F0704030504030204" pitchFamily="34" charset="0"/>
            </a:rPr>
            <a:t>2023</a:t>
          </a:r>
        </a:p>
      </dgm:t>
    </dgm:pt>
    <dgm:pt modelId="{88984B88-2AFA-4CBE-9FC7-C45A595C14B6}" type="parTrans" cxnId="{45194172-26DB-44FF-AE4A-D518BE833A3F}">
      <dgm:prSet/>
      <dgm:spPr/>
      <dgm:t>
        <a:bodyPr/>
        <a:lstStyle/>
        <a:p>
          <a:endParaRPr lang="en-US"/>
        </a:p>
      </dgm:t>
    </dgm:pt>
    <dgm:pt modelId="{2F64970F-3CCD-4FC7-8F62-F2F768D4D079}" type="sibTrans" cxnId="{45194172-26DB-44FF-AE4A-D518BE833A3F}">
      <dgm:prSet/>
      <dgm:spPr/>
      <dgm:t>
        <a:bodyPr/>
        <a:lstStyle/>
        <a:p>
          <a:endParaRPr lang="en-US"/>
        </a:p>
      </dgm:t>
    </dgm:pt>
    <dgm:pt modelId="{B272F57D-D9D9-4BB8-AF2F-AED69F08ADD4}">
      <dgm:prSet phldrT="[Text]"/>
      <dgm:spPr/>
      <dgm:t>
        <a:bodyPr/>
        <a:lstStyle/>
        <a:p>
          <a:r>
            <a:rPr lang="en-US" b="1" u="sng" dirty="0">
              <a:solidFill>
                <a:srgbClr val="FFFFFF"/>
              </a:solidFill>
              <a:latin typeface="Arial Rounded MT Bold" panose="020F0704030504030204" pitchFamily="34" charset="0"/>
            </a:rPr>
            <a:t>2018</a:t>
          </a:r>
        </a:p>
        <a:p>
          <a:r>
            <a:rPr lang="en-US" dirty="0">
              <a:solidFill>
                <a:srgbClr val="FFFFFF"/>
              </a:solidFill>
              <a:latin typeface="Arial Rounded MT Bold" panose="020F0704030504030204" pitchFamily="34" charset="0"/>
            </a:rPr>
            <a:t>Godot 3.0 released</a:t>
          </a:r>
        </a:p>
      </dgm:t>
    </dgm:pt>
    <dgm:pt modelId="{33CFDAB4-2EE7-4306-A1DA-B75D962545D6}" type="parTrans" cxnId="{4F930299-FB77-413C-B139-3B775E831138}">
      <dgm:prSet/>
      <dgm:spPr/>
      <dgm:t>
        <a:bodyPr/>
        <a:lstStyle/>
        <a:p>
          <a:endParaRPr lang="en-US"/>
        </a:p>
      </dgm:t>
    </dgm:pt>
    <dgm:pt modelId="{8DC029B9-0255-4149-85BD-308E62AA0B4A}" type="sibTrans" cxnId="{4F930299-FB77-413C-B139-3B775E831138}">
      <dgm:prSet/>
      <dgm:spPr/>
      <dgm:t>
        <a:bodyPr/>
        <a:lstStyle/>
        <a:p>
          <a:endParaRPr lang="en-US"/>
        </a:p>
      </dgm:t>
    </dgm:pt>
    <dgm:pt modelId="{5EA5C249-8DC1-44C3-9FB1-95744036AB7D}">
      <dgm:prSet phldrT="[Text]"/>
      <dgm:spPr/>
      <dgm:t>
        <a:bodyPr/>
        <a:lstStyle/>
        <a:p>
          <a:r>
            <a:rPr lang="en-US" b="1" u="sng" dirty="0">
              <a:solidFill>
                <a:srgbClr val="FFFFFF"/>
              </a:solidFill>
              <a:latin typeface="Arial Rounded MT Bold" panose="020F0704030504030204" pitchFamily="34" charset="0"/>
            </a:rPr>
            <a:t>2014</a:t>
          </a:r>
        </a:p>
        <a:p>
          <a:r>
            <a:rPr lang="en-US" dirty="0">
              <a:solidFill>
                <a:srgbClr val="FFFFFF"/>
              </a:solidFill>
              <a:latin typeface="Arial Rounded MT Bold" panose="020F0704030504030204" pitchFamily="34" charset="0"/>
            </a:rPr>
            <a:t>Godot 1.0 released on GitHub</a:t>
          </a:r>
        </a:p>
      </dgm:t>
    </dgm:pt>
    <dgm:pt modelId="{29F49A93-95F2-4FDC-A7F9-9A0975B5D410}" type="parTrans" cxnId="{41488613-1112-49CF-BD6A-9E1EEE2A60D8}">
      <dgm:prSet/>
      <dgm:spPr/>
      <dgm:t>
        <a:bodyPr/>
        <a:lstStyle/>
        <a:p>
          <a:endParaRPr lang="en-US"/>
        </a:p>
      </dgm:t>
    </dgm:pt>
    <dgm:pt modelId="{E253659B-AEB1-4C36-9B44-2F8BF9C4AD64}" type="sibTrans" cxnId="{41488613-1112-49CF-BD6A-9E1EEE2A60D8}">
      <dgm:prSet/>
      <dgm:spPr/>
      <dgm:t>
        <a:bodyPr/>
        <a:lstStyle/>
        <a:p>
          <a:endParaRPr lang="en-US"/>
        </a:p>
      </dgm:t>
    </dgm:pt>
    <dgm:pt modelId="{45B21A0C-B782-44B3-AAFE-6D5D5979F428}">
      <dgm:prSet phldrT="[Text]"/>
      <dgm:spPr/>
      <dgm:t>
        <a:bodyPr/>
        <a:lstStyle/>
        <a:p>
          <a:r>
            <a:rPr lang="en-US" dirty="0">
              <a:solidFill>
                <a:srgbClr val="FFFFFF"/>
              </a:solidFill>
              <a:latin typeface="Arial Rounded MT Bold" panose="020F0704030504030204" pitchFamily="34" charset="0"/>
            </a:rPr>
            <a:t>Godot 2.0 released</a:t>
          </a:r>
        </a:p>
        <a:p>
          <a:r>
            <a:rPr lang="en-US" b="1" u="sng" dirty="0">
              <a:solidFill>
                <a:srgbClr val="FFFFFF"/>
              </a:solidFill>
              <a:latin typeface="Arial Rounded MT Bold" panose="020F0704030504030204" pitchFamily="34" charset="0"/>
            </a:rPr>
            <a:t>2016</a:t>
          </a:r>
        </a:p>
      </dgm:t>
    </dgm:pt>
    <dgm:pt modelId="{93F95018-001A-4D93-9223-C5B728063672}" type="parTrans" cxnId="{3EC3A8D3-8C17-4AE3-9A4E-8C53D03FFA49}">
      <dgm:prSet/>
      <dgm:spPr/>
      <dgm:t>
        <a:bodyPr/>
        <a:lstStyle/>
        <a:p>
          <a:endParaRPr lang="en-US"/>
        </a:p>
      </dgm:t>
    </dgm:pt>
    <dgm:pt modelId="{2AAD90A0-9B55-4FFD-A598-BEF02D69F4A1}" type="sibTrans" cxnId="{3EC3A8D3-8C17-4AE3-9A4E-8C53D03FFA49}">
      <dgm:prSet/>
      <dgm:spPr/>
      <dgm:t>
        <a:bodyPr/>
        <a:lstStyle/>
        <a:p>
          <a:endParaRPr lang="en-US"/>
        </a:p>
      </dgm:t>
    </dgm:pt>
    <dgm:pt modelId="{2A7BF4C6-78C8-4E13-8F88-DDAB8C09546A}" type="pres">
      <dgm:prSet presAssocID="{59EE2017-FE41-4D48-BD68-06FDFA25DF3A}" presName="Name0" presStyleCnt="0">
        <dgm:presLayoutVars>
          <dgm:dir/>
          <dgm:resizeHandles val="exact"/>
        </dgm:presLayoutVars>
      </dgm:prSet>
      <dgm:spPr/>
    </dgm:pt>
    <dgm:pt modelId="{B1F6EA4C-A6A3-4B0A-A443-FA9F977466F4}" type="pres">
      <dgm:prSet presAssocID="{59EE2017-FE41-4D48-BD68-06FDFA25DF3A}" presName="arrow" presStyleLbl="bgShp" presStyleIdx="0" presStyleCnt="1" custScaleX="100000" custScaleY="75132" custLinFactNeighborX="-2300"/>
      <dgm:spPr>
        <a:solidFill>
          <a:srgbClr val="FFFFFF"/>
        </a:solidFill>
      </dgm:spPr>
    </dgm:pt>
    <dgm:pt modelId="{E7B12667-ED2D-408E-B33E-0B7CC1E6F577}" type="pres">
      <dgm:prSet presAssocID="{59EE2017-FE41-4D48-BD68-06FDFA25DF3A}" presName="points" presStyleCnt="0"/>
      <dgm:spPr/>
    </dgm:pt>
    <dgm:pt modelId="{82BE924C-59D0-47A7-892C-936E716A7412}" type="pres">
      <dgm:prSet presAssocID="{560363E7-3FB7-443A-BADF-61B9677780E0}" presName="compositeA" presStyleCnt="0"/>
      <dgm:spPr/>
    </dgm:pt>
    <dgm:pt modelId="{539014FE-867C-47E5-B8DA-C62FA903F626}" type="pres">
      <dgm:prSet presAssocID="{560363E7-3FB7-443A-BADF-61B9677780E0}" presName="textA" presStyleLbl="revTx" presStyleIdx="0" presStyleCnt="5">
        <dgm:presLayoutVars>
          <dgm:bulletEnabled val="1"/>
        </dgm:presLayoutVars>
      </dgm:prSet>
      <dgm:spPr/>
    </dgm:pt>
    <dgm:pt modelId="{891214AC-8472-4E93-92D7-522C1C3C0760}" type="pres">
      <dgm:prSet presAssocID="{560363E7-3FB7-443A-BADF-61B9677780E0}" presName="circleA" presStyleLbl="node1" presStyleIdx="0" presStyleCnt="5"/>
      <dgm:spPr>
        <a:solidFill>
          <a:srgbClr val="478CBF"/>
        </a:solidFill>
        <a:ln>
          <a:noFill/>
        </a:ln>
      </dgm:spPr>
    </dgm:pt>
    <dgm:pt modelId="{72C69C73-6C75-472E-90A9-F95DF4A6622A}" type="pres">
      <dgm:prSet presAssocID="{560363E7-3FB7-443A-BADF-61B9677780E0}" presName="spaceA" presStyleCnt="0"/>
      <dgm:spPr/>
    </dgm:pt>
    <dgm:pt modelId="{BA753338-A268-4C7F-890D-7D3AA7E90A5C}" type="pres">
      <dgm:prSet presAssocID="{9E313D51-3D51-4F74-9C38-93AAB566CA2B}" presName="space" presStyleCnt="0"/>
      <dgm:spPr/>
    </dgm:pt>
    <dgm:pt modelId="{ED07BE25-F68A-457B-9541-33D98381D283}" type="pres">
      <dgm:prSet presAssocID="{5EA5C249-8DC1-44C3-9FB1-95744036AB7D}" presName="compositeB" presStyleCnt="0"/>
      <dgm:spPr/>
    </dgm:pt>
    <dgm:pt modelId="{A90501CF-6C4E-4439-B875-EC0085AD2839}" type="pres">
      <dgm:prSet presAssocID="{5EA5C249-8DC1-44C3-9FB1-95744036AB7D}" presName="textB" presStyleLbl="revTx" presStyleIdx="1" presStyleCnt="5">
        <dgm:presLayoutVars>
          <dgm:bulletEnabled val="1"/>
        </dgm:presLayoutVars>
      </dgm:prSet>
      <dgm:spPr/>
    </dgm:pt>
    <dgm:pt modelId="{30574730-0387-4283-A0CD-99460FF84509}" type="pres">
      <dgm:prSet presAssocID="{5EA5C249-8DC1-44C3-9FB1-95744036AB7D}" presName="circleB" presStyleLbl="node1" presStyleIdx="1" presStyleCnt="5"/>
      <dgm:spPr>
        <a:solidFill>
          <a:srgbClr val="478CBF"/>
        </a:solidFill>
      </dgm:spPr>
    </dgm:pt>
    <dgm:pt modelId="{031FED18-6B67-42E2-8982-0A77A2A18F64}" type="pres">
      <dgm:prSet presAssocID="{5EA5C249-8DC1-44C3-9FB1-95744036AB7D}" presName="spaceB" presStyleCnt="0"/>
      <dgm:spPr/>
    </dgm:pt>
    <dgm:pt modelId="{BBDE03EC-5E96-4B5A-B95A-6EDAF0A52FE1}" type="pres">
      <dgm:prSet presAssocID="{E253659B-AEB1-4C36-9B44-2F8BF9C4AD64}" presName="space" presStyleCnt="0"/>
      <dgm:spPr/>
    </dgm:pt>
    <dgm:pt modelId="{C79C8B5B-8C27-4293-8D2A-515599EAECC5}" type="pres">
      <dgm:prSet presAssocID="{45B21A0C-B782-44B3-AAFE-6D5D5979F428}" presName="compositeA" presStyleCnt="0"/>
      <dgm:spPr/>
    </dgm:pt>
    <dgm:pt modelId="{949725B5-C026-43F0-A968-224265C92F4F}" type="pres">
      <dgm:prSet presAssocID="{45B21A0C-B782-44B3-AAFE-6D5D5979F428}" presName="textA" presStyleLbl="revTx" presStyleIdx="2" presStyleCnt="5">
        <dgm:presLayoutVars>
          <dgm:bulletEnabled val="1"/>
        </dgm:presLayoutVars>
      </dgm:prSet>
      <dgm:spPr/>
    </dgm:pt>
    <dgm:pt modelId="{5230A3BD-2D46-420C-AF1D-22900D855359}" type="pres">
      <dgm:prSet presAssocID="{45B21A0C-B782-44B3-AAFE-6D5D5979F428}" presName="circleA" presStyleLbl="node1" presStyleIdx="2" presStyleCnt="5"/>
      <dgm:spPr>
        <a:solidFill>
          <a:srgbClr val="478CBF"/>
        </a:solidFill>
      </dgm:spPr>
    </dgm:pt>
    <dgm:pt modelId="{841478E7-DECE-41AE-AF22-0252DCBB4348}" type="pres">
      <dgm:prSet presAssocID="{45B21A0C-B782-44B3-AAFE-6D5D5979F428}" presName="spaceA" presStyleCnt="0"/>
      <dgm:spPr/>
    </dgm:pt>
    <dgm:pt modelId="{DB0FFC75-7DE5-49E2-9F4C-4758108EE138}" type="pres">
      <dgm:prSet presAssocID="{2AAD90A0-9B55-4FFD-A598-BEF02D69F4A1}" presName="space" presStyleCnt="0"/>
      <dgm:spPr/>
    </dgm:pt>
    <dgm:pt modelId="{F8C638C7-D818-4438-9367-7A3FF9002541}" type="pres">
      <dgm:prSet presAssocID="{B272F57D-D9D9-4BB8-AF2F-AED69F08ADD4}" presName="compositeB" presStyleCnt="0"/>
      <dgm:spPr/>
    </dgm:pt>
    <dgm:pt modelId="{2DBB7765-A748-4718-8151-FD8FEF6CB011}" type="pres">
      <dgm:prSet presAssocID="{B272F57D-D9D9-4BB8-AF2F-AED69F08ADD4}" presName="textB" presStyleLbl="revTx" presStyleIdx="3" presStyleCnt="5">
        <dgm:presLayoutVars>
          <dgm:bulletEnabled val="1"/>
        </dgm:presLayoutVars>
      </dgm:prSet>
      <dgm:spPr/>
    </dgm:pt>
    <dgm:pt modelId="{A985C7E0-38D2-410F-B6C7-F21811D55974}" type="pres">
      <dgm:prSet presAssocID="{B272F57D-D9D9-4BB8-AF2F-AED69F08ADD4}" presName="circleB" presStyleLbl="node1" presStyleIdx="3" presStyleCnt="5"/>
      <dgm:spPr>
        <a:solidFill>
          <a:srgbClr val="478CBF"/>
        </a:solidFill>
      </dgm:spPr>
    </dgm:pt>
    <dgm:pt modelId="{2BF97080-9CA5-498F-8CD2-2B35B2B577C5}" type="pres">
      <dgm:prSet presAssocID="{B272F57D-D9D9-4BB8-AF2F-AED69F08ADD4}" presName="spaceB" presStyleCnt="0"/>
      <dgm:spPr/>
    </dgm:pt>
    <dgm:pt modelId="{43247DDE-BE4F-4B58-97DA-9016AE2E0AEC}" type="pres">
      <dgm:prSet presAssocID="{8DC029B9-0255-4149-85BD-308E62AA0B4A}" presName="space" presStyleCnt="0"/>
      <dgm:spPr/>
    </dgm:pt>
    <dgm:pt modelId="{F2082A76-9ADA-4EB6-B033-09C11544D2D4}" type="pres">
      <dgm:prSet presAssocID="{309A3D4D-B09F-4CC9-B639-FFF8295D277D}" presName="compositeA" presStyleCnt="0"/>
      <dgm:spPr/>
    </dgm:pt>
    <dgm:pt modelId="{5AB678F9-11B3-44CF-B912-C6D182366F19}" type="pres">
      <dgm:prSet presAssocID="{309A3D4D-B09F-4CC9-B639-FFF8295D277D}" presName="textA" presStyleLbl="revTx" presStyleIdx="4" presStyleCnt="5">
        <dgm:presLayoutVars>
          <dgm:bulletEnabled val="1"/>
        </dgm:presLayoutVars>
      </dgm:prSet>
      <dgm:spPr/>
    </dgm:pt>
    <dgm:pt modelId="{67279618-A750-42C4-9F1F-4B8D66EFE0C0}" type="pres">
      <dgm:prSet presAssocID="{309A3D4D-B09F-4CC9-B639-FFF8295D277D}" presName="circleA" presStyleLbl="node1" presStyleIdx="4" presStyleCnt="5"/>
      <dgm:spPr>
        <a:solidFill>
          <a:srgbClr val="478CBF"/>
        </a:solidFill>
      </dgm:spPr>
    </dgm:pt>
    <dgm:pt modelId="{C0EC9C97-B694-4CF0-8959-21C09FA325B7}" type="pres">
      <dgm:prSet presAssocID="{309A3D4D-B09F-4CC9-B639-FFF8295D277D}" presName="spaceA" presStyleCnt="0"/>
      <dgm:spPr/>
    </dgm:pt>
  </dgm:ptLst>
  <dgm:cxnLst>
    <dgm:cxn modelId="{41488613-1112-49CF-BD6A-9E1EEE2A60D8}" srcId="{59EE2017-FE41-4D48-BD68-06FDFA25DF3A}" destId="{5EA5C249-8DC1-44C3-9FB1-95744036AB7D}" srcOrd="1" destOrd="0" parTransId="{29F49A93-95F2-4FDC-A7F9-9A0975B5D410}" sibTransId="{E253659B-AEB1-4C36-9B44-2F8BF9C4AD64}"/>
    <dgm:cxn modelId="{0B3E4270-0115-4FAE-A50B-4F48D3C4DAE4}" type="presOf" srcId="{5EA5C249-8DC1-44C3-9FB1-95744036AB7D}" destId="{A90501CF-6C4E-4439-B875-EC0085AD2839}" srcOrd="0" destOrd="0" presId="urn:microsoft.com/office/officeart/2005/8/layout/hProcess11"/>
    <dgm:cxn modelId="{45194172-26DB-44FF-AE4A-D518BE833A3F}" srcId="{59EE2017-FE41-4D48-BD68-06FDFA25DF3A}" destId="{309A3D4D-B09F-4CC9-B639-FFF8295D277D}" srcOrd="4" destOrd="0" parTransId="{88984B88-2AFA-4CBE-9FC7-C45A595C14B6}" sibTransId="{2F64970F-3CCD-4FC7-8F62-F2F768D4D079}"/>
    <dgm:cxn modelId="{FC17FA90-0DA8-49BF-AC62-0BFB71D2B269}" type="presOf" srcId="{309A3D4D-B09F-4CC9-B639-FFF8295D277D}" destId="{5AB678F9-11B3-44CF-B912-C6D182366F19}" srcOrd="0" destOrd="0" presId="urn:microsoft.com/office/officeart/2005/8/layout/hProcess11"/>
    <dgm:cxn modelId="{4F930299-FB77-413C-B139-3B775E831138}" srcId="{59EE2017-FE41-4D48-BD68-06FDFA25DF3A}" destId="{B272F57D-D9D9-4BB8-AF2F-AED69F08ADD4}" srcOrd="3" destOrd="0" parTransId="{33CFDAB4-2EE7-4306-A1DA-B75D962545D6}" sibTransId="{8DC029B9-0255-4149-85BD-308E62AA0B4A}"/>
    <dgm:cxn modelId="{4EA18F9B-2140-4912-ABFE-39A6D30E0B1F}" type="presOf" srcId="{560363E7-3FB7-443A-BADF-61B9677780E0}" destId="{539014FE-867C-47E5-B8DA-C62FA903F626}" srcOrd="0" destOrd="0" presId="urn:microsoft.com/office/officeart/2005/8/layout/hProcess11"/>
    <dgm:cxn modelId="{7FE5A5A6-77A0-424E-A01F-DFFE46984A3A}" type="presOf" srcId="{59EE2017-FE41-4D48-BD68-06FDFA25DF3A}" destId="{2A7BF4C6-78C8-4E13-8F88-DDAB8C09546A}" srcOrd="0" destOrd="0" presId="urn:microsoft.com/office/officeart/2005/8/layout/hProcess11"/>
    <dgm:cxn modelId="{F0BD29AB-5EBC-4BD2-A62A-A5B1F629B232}" srcId="{59EE2017-FE41-4D48-BD68-06FDFA25DF3A}" destId="{560363E7-3FB7-443A-BADF-61B9677780E0}" srcOrd="0" destOrd="0" parTransId="{DC8B2006-3607-4F26-83F0-D75DFEC78459}" sibTransId="{9E313D51-3D51-4F74-9C38-93AAB566CA2B}"/>
    <dgm:cxn modelId="{DCF76CB5-3172-4593-B3CD-BF894459FB0E}" type="presOf" srcId="{B272F57D-D9D9-4BB8-AF2F-AED69F08ADD4}" destId="{2DBB7765-A748-4718-8151-FD8FEF6CB011}" srcOrd="0" destOrd="0" presId="urn:microsoft.com/office/officeart/2005/8/layout/hProcess11"/>
    <dgm:cxn modelId="{3EC3A8D3-8C17-4AE3-9A4E-8C53D03FFA49}" srcId="{59EE2017-FE41-4D48-BD68-06FDFA25DF3A}" destId="{45B21A0C-B782-44B3-AAFE-6D5D5979F428}" srcOrd="2" destOrd="0" parTransId="{93F95018-001A-4D93-9223-C5B728063672}" sibTransId="{2AAD90A0-9B55-4FFD-A598-BEF02D69F4A1}"/>
    <dgm:cxn modelId="{CA3A54F6-012E-48BD-A92A-C9328103E38A}" type="presOf" srcId="{45B21A0C-B782-44B3-AAFE-6D5D5979F428}" destId="{949725B5-C026-43F0-A968-224265C92F4F}" srcOrd="0" destOrd="0" presId="urn:microsoft.com/office/officeart/2005/8/layout/hProcess11"/>
    <dgm:cxn modelId="{BA0B866A-1E1F-4D0F-BEF4-2B4BEF99F7E9}" type="presParOf" srcId="{2A7BF4C6-78C8-4E13-8F88-DDAB8C09546A}" destId="{B1F6EA4C-A6A3-4B0A-A443-FA9F977466F4}" srcOrd="0" destOrd="0" presId="urn:microsoft.com/office/officeart/2005/8/layout/hProcess11"/>
    <dgm:cxn modelId="{484CB2E6-D480-43EE-AED7-4D0F211194F8}" type="presParOf" srcId="{2A7BF4C6-78C8-4E13-8F88-DDAB8C09546A}" destId="{E7B12667-ED2D-408E-B33E-0B7CC1E6F577}" srcOrd="1" destOrd="0" presId="urn:microsoft.com/office/officeart/2005/8/layout/hProcess11"/>
    <dgm:cxn modelId="{E773AE94-7BFB-4950-927D-B01415FB210C}" type="presParOf" srcId="{E7B12667-ED2D-408E-B33E-0B7CC1E6F577}" destId="{82BE924C-59D0-47A7-892C-936E716A7412}" srcOrd="0" destOrd="0" presId="urn:microsoft.com/office/officeart/2005/8/layout/hProcess11"/>
    <dgm:cxn modelId="{F42ADB44-1D2B-446F-B871-0289B3A9CF74}" type="presParOf" srcId="{82BE924C-59D0-47A7-892C-936E716A7412}" destId="{539014FE-867C-47E5-B8DA-C62FA903F626}" srcOrd="0" destOrd="0" presId="urn:microsoft.com/office/officeart/2005/8/layout/hProcess11"/>
    <dgm:cxn modelId="{87E68D19-5341-4350-86C3-8D4ED6FA92ED}" type="presParOf" srcId="{82BE924C-59D0-47A7-892C-936E716A7412}" destId="{891214AC-8472-4E93-92D7-522C1C3C0760}" srcOrd="1" destOrd="0" presId="urn:microsoft.com/office/officeart/2005/8/layout/hProcess11"/>
    <dgm:cxn modelId="{4CC5CD06-2293-4497-8172-A576D31592E5}" type="presParOf" srcId="{82BE924C-59D0-47A7-892C-936E716A7412}" destId="{72C69C73-6C75-472E-90A9-F95DF4A6622A}" srcOrd="2" destOrd="0" presId="urn:microsoft.com/office/officeart/2005/8/layout/hProcess11"/>
    <dgm:cxn modelId="{609BE9DE-8F40-4DDB-B37B-DA2E3F199D7E}" type="presParOf" srcId="{E7B12667-ED2D-408E-B33E-0B7CC1E6F577}" destId="{BA753338-A268-4C7F-890D-7D3AA7E90A5C}" srcOrd="1" destOrd="0" presId="urn:microsoft.com/office/officeart/2005/8/layout/hProcess11"/>
    <dgm:cxn modelId="{49E6A17A-98B8-4646-86EC-935A7E75B75E}" type="presParOf" srcId="{E7B12667-ED2D-408E-B33E-0B7CC1E6F577}" destId="{ED07BE25-F68A-457B-9541-33D98381D283}" srcOrd="2" destOrd="0" presId="urn:microsoft.com/office/officeart/2005/8/layout/hProcess11"/>
    <dgm:cxn modelId="{E3AC788D-289F-4D4D-B3C6-F18AA0964D3A}" type="presParOf" srcId="{ED07BE25-F68A-457B-9541-33D98381D283}" destId="{A90501CF-6C4E-4439-B875-EC0085AD2839}" srcOrd="0" destOrd="0" presId="urn:microsoft.com/office/officeart/2005/8/layout/hProcess11"/>
    <dgm:cxn modelId="{0939AA17-FBBE-433E-A046-A37F975BAF38}" type="presParOf" srcId="{ED07BE25-F68A-457B-9541-33D98381D283}" destId="{30574730-0387-4283-A0CD-99460FF84509}" srcOrd="1" destOrd="0" presId="urn:microsoft.com/office/officeart/2005/8/layout/hProcess11"/>
    <dgm:cxn modelId="{5ACBC3BF-DE28-4095-8276-2CDD49CBF11E}" type="presParOf" srcId="{ED07BE25-F68A-457B-9541-33D98381D283}" destId="{031FED18-6B67-42E2-8982-0A77A2A18F64}" srcOrd="2" destOrd="0" presId="urn:microsoft.com/office/officeart/2005/8/layout/hProcess11"/>
    <dgm:cxn modelId="{0E040D8D-05E8-4879-865F-6827630A0679}" type="presParOf" srcId="{E7B12667-ED2D-408E-B33E-0B7CC1E6F577}" destId="{BBDE03EC-5E96-4B5A-B95A-6EDAF0A52FE1}" srcOrd="3" destOrd="0" presId="urn:microsoft.com/office/officeart/2005/8/layout/hProcess11"/>
    <dgm:cxn modelId="{488F6341-701B-4390-831D-5E9DC24ED83C}" type="presParOf" srcId="{E7B12667-ED2D-408E-B33E-0B7CC1E6F577}" destId="{C79C8B5B-8C27-4293-8D2A-515599EAECC5}" srcOrd="4" destOrd="0" presId="urn:microsoft.com/office/officeart/2005/8/layout/hProcess11"/>
    <dgm:cxn modelId="{5A172B23-D47D-4D51-9F36-914D8660EBA2}" type="presParOf" srcId="{C79C8B5B-8C27-4293-8D2A-515599EAECC5}" destId="{949725B5-C026-43F0-A968-224265C92F4F}" srcOrd="0" destOrd="0" presId="urn:microsoft.com/office/officeart/2005/8/layout/hProcess11"/>
    <dgm:cxn modelId="{8298D22C-B7BA-4DA8-B2A9-E35353949328}" type="presParOf" srcId="{C79C8B5B-8C27-4293-8D2A-515599EAECC5}" destId="{5230A3BD-2D46-420C-AF1D-22900D855359}" srcOrd="1" destOrd="0" presId="urn:microsoft.com/office/officeart/2005/8/layout/hProcess11"/>
    <dgm:cxn modelId="{CA0BBC07-EB6D-49DA-8CDE-44CE11B82EE3}" type="presParOf" srcId="{C79C8B5B-8C27-4293-8D2A-515599EAECC5}" destId="{841478E7-DECE-41AE-AF22-0252DCBB4348}" srcOrd="2" destOrd="0" presId="urn:microsoft.com/office/officeart/2005/8/layout/hProcess11"/>
    <dgm:cxn modelId="{C70F9706-D30F-405E-8AC8-794B12547E09}" type="presParOf" srcId="{E7B12667-ED2D-408E-B33E-0B7CC1E6F577}" destId="{DB0FFC75-7DE5-49E2-9F4C-4758108EE138}" srcOrd="5" destOrd="0" presId="urn:microsoft.com/office/officeart/2005/8/layout/hProcess11"/>
    <dgm:cxn modelId="{7412EDA2-9D59-4DF2-8C04-5599B8F3B609}" type="presParOf" srcId="{E7B12667-ED2D-408E-B33E-0B7CC1E6F577}" destId="{F8C638C7-D818-4438-9367-7A3FF9002541}" srcOrd="6" destOrd="0" presId="urn:microsoft.com/office/officeart/2005/8/layout/hProcess11"/>
    <dgm:cxn modelId="{F1416B75-4B88-41E3-8C24-DF93354015C1}" type="presParOf" srcId="{F8C638C7-D818-4438-9367-7A3FF9002541}" destId="{2DBB7765-A748-4718-8151-FD8FEF6CB011}" srcOrd="0" destOrd="0" presId="urn:microsoft.com/office/officeart/2005/8/layout/hProcess11"/>
    <dgm:cxn modelId="{8955D66A-2443-4CCA-8A4E-769240B177A1}" type="presParOf" srcId="{F8C638C7-D818-4438-9367-7A3FF9002541}" destId="{A985C7E0-38D2-410F-B6C7-F21811D55974}" srcOrd="1" destOrd="0" presId="urn:microsoft.com/office/officeart/2005/8/layout/hProcess11"/>
    <dgm:cxn modelId="{F6D0F651-5B8E-4411-A585-756F40040064}" type="presParOf" srcId="{F8C638C7-D818-4438-9367-7A3FF9002541}" destId="{2BF97080-9CA5-498F-8CD2-2B35B2B577C5}" srcOrd="2" destOrd="0" presId="urn:microsoft.com/office/officeart/2005/8/layout/hProcess11"/>
    <dgm:cxn modelId="{6BA1DFEF-3104-4408-B38E-E1407A6995CB}" type="presParOf" srcId="{E7B12667-ED2D-408E-B33E-0B7CC1E6F577}" destId="{43247DDE-BE4F-4B58-97DA-9016AE2E0AEC}" srcOrd="7" destOrd="0" presId="urn:microsoft.com/office/officeart/2005/8/layout/hProcess11"/>
    <dgm:cxn modelId="{41916A89-BF0B-4786-879B-C15668138446}" type="presParOf" srcId="{E7B12667-ED2D-408E-B33E-0B7CC1E6F577}" destId="{F2082A76-9ADA-4EB6-B033-09C11544D2D4}" srcOrd="8" destOrd="0" presId="urn:microsoft.com/office/officeart/2005/8/layout/hProcess11"/>
    <dgm:cxn modelId="{76C05E45-DC30-4187-BCF7-184C5F15F21C}" type="presParOf" srcId="{F2082A76-9ADA-4EB6-B033-09C11544D2D4}" destId="{5AB678F9-11B3-44CF-B912-C6D182366F19}" srcOrd="0" destOrd="0" presId="urn:microsoft.com/office/officeart/2005/8/layout/hProcess11"/>
    <dgm:cxn modelId="{5D40366D-A632-4D0A-9598-67223EADD233}" type="presParOf" srcId="{F2082A76-9ADA-4EB6-B033-09C11544D2D4}" destId="{67279618-A750-42C4-9F1F-4B8D66EFE0C0}" srcOrd="1" destOrd="0" presId="urn:microsoft.com/office/officeart/2005/8/layout/hProcess11"/>
    <dgm:cxn modelId="{388AD207-0B9C-4191-A5F4-55CDF2BD9A0C}" type="presParOf" srcId="{F2082A76-9ADA-4EB6-B033-09C11544D2D4}" destId="{C0EC9C97-B694-4CF0-8959-21C09FA325B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6EA4C-A6A3-4B0A-A443-FA9F977466F4}">
      <dsp:nvSpPr>
        <dsp:cNvPr id="0" name=""/>
        <dsp:cNvSpPr/>
      </dsp:nvSpPr>
      <dsp:spPr>
        <a:xfrm>
          <a:off x="0" y="1521819"/>
          <a:ext cx="10515600" cy="1307698"/>
        </a:xfrm>
        <a:prstGeom prst="notchedRightArrow">
          <a:avLst/>
        </a:prstGeom>
        <a:solidFill>
          <a:srgbClr val="FFFF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014FE-867C-47E5-B8DA-C62FA903F626}">
      <dsp:nvSpPr>
        <dsp:cNvPr id="0" name=""/>
        <dsp:cNvSpPr/>
      </dsp:nvSpPr>
      <dsp:spPr>
        <a:xfrm>
          <a:off x="4159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 Rounded MT Bold" panose="020F0704030504030204" pitchFamily="34" charset="0"/>
            </a:rPr>
            <a:t>“</a:t>
          </a:r>
          <a:r>
            <a:rPr lang="en-US" sz="2000" kern="1200" dirty="0" err="1">
              <a:solidFill>
                <a:srgbClr val="FFFFFF"/>
              </a:solidFill>
              <a:latin typeface="Arial Rounded MT Bold" panose="020F0704030504030204" pitchFamily="34" charset="0"/>
            </a:rPr>
            <a:t>Larvotor</a:t>
          </a:r>
          <a:r>
            <a:rPr lang="en-US" sz="2000" kern="1200" dirty="0">
              <a:solidFill>
                <a:srgbClr val="FFFFFF"/>
              </a:solidFill>
              <a:latin typeface="Arial Rounded MT Bold" panose="020F0704030504030204" pitchFamily="34" charset="0"/>
            </a:rPr>
            <a:t>” game engine created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FFFFFF"/>
              </a:solidFill>
              <a:latin typeface="Arial Rounded MT Bold" panose="020F0704030504030204" pitchFamily="34" charset="0"/>
            </a:rPr>
            <a:t>2001</a:t>
          </a:r>
        </a:p>
      </dsp:txBody>
      <dsp:txXfrm>
        <a:off x="4159" y="0"/>
        <a:ext cx="1818408" cy="1740535"/>
      </dsp:txXfrm>
    </dsp:sp>
    <dsp:sp modelId="{891214AC-8472-4E93-92D7-522C1C3C0760}">
      <dsp:nvSpPr>
        <dsp:cNvPr id="0" name=""/>
        <dsp:cNvSpPr/>
      </dsp:nvSpPr>
      <dsp:spPr>
        <a:xfrm>
          <a:off x="695796" y="1958102"/>
          <a:ext cx="435133" cy="435133"/>
        </a:xfrm>
        <a:prstGeom prst="ellipse">
          <a:avLst/>
        </a:prstGeom>
        <a:solidFill>
          <a:srgbClr val="478CBF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501CF-6C4E-4439-B875-EC0085AD2839}">
      <dsp:nvSpPr>
        <dsp:cNvPr id="0" name=""/>
        <dsp:cNvSpPr/>
      </dsp:nvSpPr>
      <dsp:spPr>
        <a:xfrm>
          <a:off x="1913487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FFFFFF"/>
              </a:solidFill>
              <a:latin typeface="Arial Rounded MT Bold" panose="020F0704030504030204" pitchFamily="34" charset="0"/>
            </a:rPr>
            <a:t>2014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 Rounded MT Bold" panose="020F0704030504030204" pitchFamily="34" charset="0"/>
            </a:rPr>
            <a:t>Godot 1.0 released on GitHub</a:t>
          </a:r>
        </a:p>
      </dsp:txBody>
      <dsp:txXfrm>
        <a:off x="1913487" y="2610802"/>
        <a:ext cx="1818408" cy="1740535"/>
      </dsp:txXfrm>
    </dsp:sp>
    <dsp:sp modelId="{30574730-0387-4283-A0CD-99460FF84509}">
      <dsp:nvSpPr>
        <dsp:cNvPr id="0" name=""/>
        <dsp:cNvSpPr/>
      </dsp:nvSpPr>
      <dsp:spPr>
        <a:xfrm>
          <a:off x="2605124" y="1958102"/>
          <a:ext cx="435133" cy="435133"/>
        </a:xfrm>
        <a:prstGeom prst="ellipse">
          <a:avLst/>
        </a:prstGeom>
        <a:solidFill>
          <a:srgbClr val="478C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725B5-C026-43F0-A968-224265C92F4F}">
      <dsp:nvSpPr>
        <dsp:cNvPr id="0" name=""/>
        <dsp:cNvSpPr/>
      </dsp:nvSpPr>
      <dsp:spPr>
        <a:xfrm>
          <a:off x="3822815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 Rounded MT Bold" panose="020F0704030504030204" pitchFamily="34" charset="0"/>
            </a:rPr>
            <a:t>Godot 2.0 released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FFFFFF"/>
              </a:solidFill>
              <a:latin typeface="Arial Rounded MT Bold" panose="020F0704030504030204" pitchFamily="34" charset="0"/>
            </a:rPr>
            <a:t>2016</a:t>
          </a:r>
        </a:p>
      </dsp:txBody>
      <dsp:txXfrm>
        <a:off x="3822815" y="0"/>
        <a:ext cx="1818408" cy="1740535"/>
      </dsp:txXfrm>
    </dsp:sp>
    <dsp:sp modelId="{5230A3BD-2D46-420C-AF1D-22900D855359}">
      <dsp:nvSpPr>
        <dsp:cNvPr id="0" name=""/>
        <dsp:cNvSpPr/>
      </dsp:nvSpPr>
      <dsp:spPr>
        <a:xfrm>
          <a:off x="4514453" y="1958102"/>
          <a:ext cx="435133" cy="435133"/>
        </a:xfrm>
        <a:prstGeom prst="ellipse">
          <a:avLst/>
        </a:prstGeom>
        <a:solidFill>
          <a:srgbClr val="478C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B7765-A748-4718-8151-FD8FEF6CB011}">
      <dsp:nvSpPr>
        <dsp:cNvPr id="0" name=""/>
        <dsp:cNvSpPr/>
      </dsp:nvSpPr>
      <dsp:spPr>
        <a:xfrm>
          <a:off x="5732144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FFFFFF"/>
              </a:solidFill>
              <a:latin typeface="Arial Rounded MT Bold" panose="020F0704030504030204" pitchFamily="34" charset="0"/>
            </a:rPr>
            <a:t>2018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 Rounded MT Bold" panose="020F0704030504030204" pitchFamily="34" charset="0"/>
            </a:rPr>
            <a:t>Godot 3.0 released</a:t>
          </a:r>
        </a:p>
      </dsp:txBody>
      <dsp:txXfrm>
        <a:off x="5732144" y="2610802"/>
        <a:ext cx="1818408" cy="1740535"/>
      </dsp:txXfrm>
    </dsp:sp>
    <dsp:sp modelId="{A985C7E0-38D2-410F-B6C7-F21811D55974}">
      <dsp:nvSpPr>
        <dsp:cNvPr id="0" name=""/>
        <dsp:cNvSpPr/>
      </dsp:nvSpPr>
      <dsp:spPr>
        <a:xfrm>
          <a:off x="6423781" y="1958102"/>
          <a:ext cx="435133" cy="435133"/>
        </a:xfrm>
        <a:prstGeom prst="ellipse">
          <a:avLst/>
        </a:prstGeom>
        <a:solidFill>
          <a:srgbClr val="478C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678F9-11B3-44CF-B912-C6D182366F19}">
      <dsp:nvSpPr>
        <dsp:cNvPr id="0" name=""/>
        <dsp:cNvSpPr/>
      </dsp:nvSpPr>
      <dsp:spPr>
        <a:xfrm>
          <a:off x="7641472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 Rounded MT Bold" panose="020F0704030504030204" pitchFamily="34" charset="0"/>
            </a:rPr>
            <a:t>Godot 4.0 released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rgbClr val="FFFFFF"/>
              </a:solidFill>
              <a:latin typeface="Arial Rounded MT Bold" panose="020F0704030504030204" pitchFamily="34" charset="0"/>
            </a:rPr>
            <a:t>2023</a:t>
          </a:r>
        </a:p>
      </dsp:txBody>
      <dsp:txXfrm>
        <a:off x="7641472" y="0"/>
        <a:ext cx="1818408" cy="1740535"/>
      </dsp:txXfrm>
    </dsp:sp>
    <dsp:sp modelId="{67279618-A750-42C4-9F1F-4B8D66EFE0C0}">
      <dsp:nvSpPr>
        <dsp:cNvPr id="0" name=""/>
        <dsp:cNvSpPr/>
      </dsp:nvSpPr>
      <dsp:spPr>
        <a:xfrm>
          <a:off x="8333110" y="1958102"/>
          <a:ext cx="435133" cy="435133"/>
        </a:xfrm>
        <a:prstGeom prst="ellipse">
          <a:avLst/>
        </a:prstGeom>
        <a:solidFill>
          <a:srgbClr val="478C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6AD05-FEB5-416C-A97F-54988A49BA9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21966-7F61-4B45-B76F-5DC2D9AC0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2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Hello everyone! Today I’m talking about Godot.</a:t>
            </a:r>
          </a:p>
          <a:p>
            <a:pPr marL="171450" indent="-171450">
              <a:buFontTx/>
              <a:buChar char="-"/>
            </a:pPr>
            <a:r>
              <a:rPr lang="en-US" dirty="0"/>
              <a:t>As you know, Vance and I are using it to develop DATASPIRE.</a:t>
            </a:r>
          </a:p>
          <a:p>
            <a:pPr marL="171450" indent="-171450">
              <a:buFontTx/>
              <a:buChar char="-"/>
            </a:pPr>
            <a:r>
              <a:rPr lang="en-US" dirty="0"/>
              <a:t>I want to go over its history, key features, and use in the games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1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So, what is Godot?</a:t>
            </a:r>
          </a:p>
          <a:p>
            <a:pPr marL="171450" indent="-171450">
              <a:buFontTx/>
              <a:buChar char="-"/>
            </a:pPr>
            <a:r>
              <a:rPr lang="en-US" dirty="0"/>
              <a:t>It’s an open-source game development engine.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means that anyone can contribute to it in a similar fashion to Wikipedia.</a:t>
            </a:r>
          </a:p>
          <a:p>
            <a:pPr marL="171450" indent="-171450">
              <a:buFontTx/>
              <a:buChar char="-"/>
            </a:pPr>
            <a:r>
              <a:rPr lang="en-US" dirty="0"/>
              <a:t>Any changes are submitted to the Godot GitHub repo for review and, if approved, added to the next Godot update.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has been steadily gaining popularity among the indie developer community, especially due to Unity’s actions as of late.</a:t>
            </a:r>
          </a:p>
          <a:p>
            <a:pPr marL="171450" indent="-171450">
              <a:buFontTx/>
              <a:buChar char="-"/>
            </a:pPr>
            <a:r>
              <a:rPr lang="en-US" dirty="0"/>
              <a:t>I’ll get a bit more in detail about it later.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GMTK: Gamemaker’s Toolkit, a popular game development YouTube channel.</a:t>
            </a:r>
          </a:p>
          <a:p>
            <a:endParaRPr lang="en-US" dirty="0"/>
          </a:p>
          <a:p>
            <a:r>
              <a:rPr lang="en-US" dirty="0"/>
              <a:t>Game jams are game development events where participants try to make a game from scratch in a short period of time, generally limited by a theme they must follow and by time constraints.</a:t>
            </a:r>
          </a:p>
          <a:p>
            <a:endParaRPr lang="en-US" dirty="0"/>
          </a:p>
          <a:p>
            <a:r>
              <a:rPr lang="en-US" dirty="0"/>
              <a:t>Stair-stepping proposal: https://github.com/godotengine/godot-proposals/issues/2751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Godot started as a closed-source game engine developed by two guys from Argentina, Juan </a:t>
            </a:r>
            <a:r>
              <a:rPr lang="en-US" dirty="0" err="1"/>
              <a:t>Linietsky</a:t>
            </a:r>
            <a:r>
              <a:rPr lang="en-US" dirty="0"/>
              <a:t> and Ariel </a:t>
            </a:r>
            <a:r>
              <a:rPr lang="en-US" dirty="0" err="1"/>
              <a:t>Manzur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went open source in 2014 and has been open source since then, with its anniversary coming up this December.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wasn’t very popular back in the early days, but began to pick up an audience with its 3.0 release and has been getting more popular since.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4.0 was what put it on par with other game engines such as Unreal and Unity.</a:t>
            </a:r>
          </a:p>
          <a:p>
            <a:pPr marL="171450" indent="-171450">
              <a:buFontTx/>
              <a:buChar char="-"/>
            </a:pPr>
            <a:r>
              <a:rPr lang="en-US" dirty="0"/>
              <a:t>Without getting into drama, that’s essentially the entire history of Godot.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2001:</a:t>
            </a:r>
          </a:p>
          <a:p>
            <a:r>
              <a:rPr lang="en-US" dirty="0"/>
              <a:t>Created by Juan </a:t>
            </a:r>
            <a:r>
              <a:rPr lang="en-US" dirty="0" err="1"/>
              <a:t>Linietsky</a:t>
            </a:r>
            <a:r>
              <a:rPr lang="en-US" dirty="0"/>
              <a:t> and Ariel </a:t>
            </a:r>
            <a:r>
              <a:rPr lang="en-US" dirty="0" err="1"/>
              <a:t>Manzur</a:t>
            </a:r>
            <a:r>
              <a:rPr lang="en-US" dirty="0"/>
              <a:t>.</a:t>
            </a:r>
          </a:p>
          <a:p>
            <a:r>
              <a:rPr lang="en-US" dirty="0"/>
              <a:t>The name “Godot” is a direct reference to the play “Waiting for Godot”.</a:t>
            </a:r>
          </a:p>
          <a:p>
            <a:endParaRPr lang="en-US" dirty="0"/>
          </a:p>
          <a:p>
            <a:r>
              <a:rPr lang="en-US" dirty="0"/>
              <a:t>Godot 1:</a:t>
            </a:r>
          </a:p>
          <a:p>
            <a:r>
              <a:rPr lang="en-US" dirty="0"/>
              <a:t>Godot 1.0 was released on December 15, meaning its ten year anniversary is soon!</a:t>
            </a:r>
          </a:p>
          <a:p>
            <a:endParaRPr lang="en-US" dirty="0"/>
          </a:p>
          <a:p>
            <a:r>
              <a:rPr lang="en-US" dirty="0"/>
              <a:t>Godot 2:</a:t>
            </a:r>
          </a:p>
          <a:p>
            <a:r>
              <a:rPr lang="en-US" dirty="0"/>
              <a:t>C# support was added in 2017 after they received a $24,000 donation from Microsoft.</a:t>
            </a:r>
          </a:p>
          <a:p>
            <a:endParaRPr lang="en-US" dirty="0"/>
          </a:p>
          <a:p>
            <a:r>
              <a:rPr lang="en-US" dirty="0"/>
              <a:t>Godot 3:</a:t>
            </a:r>
          </a:p>
          <a:p>
            <a:r>
              <a:rPr lang="en-US" dirty="0"/>
              <a:t>Surprisingly, Godot received a $250,000 donation from Epic Games in 2020, the developers of Unreal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56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 want to go over the key features of Godot, starting with scripting.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thing everyone asks when switching to Godot is if they can use a language they’ve already learned such as C# if you’re coming from Unity.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supports almost every language, either officially or through community addons.</a:t>
            </a:r>
          </a:p>
          <a:p>
            <a:pPr marL="171450" indent="-171450">
              <a:buFontTx/>
              <a:buChar char="-"/>
            </a:pPr>
            <a:r>
              <a:rPr lang="en-US" dirty="0"/>
              <a:t>I would still recommend learning and using </a:t>
            </a:r>
            <a:r>
              <a:rPr lang="en-US" dirty="0" err="1"/>
              <a:t>GDScript</a:t>
            </a:r>
            <a:r>
              <a:rPr lang="en-US" dirty="0"/>
              <a:t> as it is the most well-supported of all of the languages, and it is very easy to learn.</a:t>
            </a:r>
          </a:p>
          <a:p>
            <a:pPr marL="171450" indent="-171450">
              <a:buFontTx/>
              <a:buChar char="-"/>
            </a:pPr>
            <a:r>
              <a:rPr lang="en-US" dirty="0"/>
              <a:t>Other than </a:t>
            </a:r>
            <a:r>
              <a:rPr lang="en-US" dirty="0" err="1"/>
              <a:t>GDScript</a:t>
            </a:r>
            <a:r>
              <a:rPr lang="en-US" dirty="0"/>
              <a:t>, it’s recommended that you use low-level languages such as C, C++, or Rust when programming resource-intensive code.</a:t>
            </a:r>
          </a:p>
          <a:p>
            <a:endParaRPr lang="en-US" dirty="0"/>
          </a:p>
          <a:p>
            <a:r>
              <a:rPr lang="en-US" dirty="0" err="1"/>
              <a:t>GDScript</a:t>
            </a:r>
            <a:r>
              <a:rPr lang="en-US" dirty="0"/>
              <a:t> is super easy to learn (Python-like syntax).</a:t>
            </a:r>
          </a:p>
          <a:p>
            <a:endParaRPr lang="en-US" dirty="0"/>
          </a:p>
          <a:p>
            <a:r>
              <a:rPr lang="en-US" dirty="0"/>
              <a:t>You’re still free to use any of the other languages you like, provided you can put up with using an external editor or addon.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92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next key feature I’d like to discuss is the node architecture.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quote that I made up reads: “If the Internet is a series of tubes… then Godot is a stack of Legos.”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sounds dumb but its genuinely how everything is constructed in Godot.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have a bunch of containers called Scenes that store everything: Levels, Menus, HUDs, Enemies, et cetera.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define functionality within a scene by adding Nodes.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These Nodes can be further specialized by giving them Scripts.</a:t>
            </a:r>
          </a:p>
          <a:p>
            <a:endParaRPr lang="en-US" dirty="0"/>
          </a:p>
          <a:p>
            <a:r>
              <a:rPr lang="en-US" dirty="0"/>
              <a:t>“That one piece of code you wrote at the start of the project that you made everything depend on and forgot about.”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8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Here is a screenshot I took of the suspicious enemy from DATASPIRE, we called it a Virus.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Virus is contained within its own Scene.</a:t>
            </a:r>
          </a:p>
          <a:p>
            <a:pPr marL="171450" indent="-171450">
              <a:buFontTx/>
              <a:buChar char="-"/>
            </a:pPr>
            <a:r>
              <a:rPr lang="en-US" dirty="0"/>
              <a:t>On the left here you’ll see the Scene Tree, which contains all of the Nodes in the Virus Scene.</a:t>
            </a:r>
          </a:p>
          <a:p>
            <a:pPr marL="171450" indent="-171450">
              <a:buFontTx/>
              <a:buChar char="-"/>
            </a:pPr>
            <a:r>
              <a:rPr lang="en-US" dirty="0"/>
              <a:t>It’s called a Tree because there’s a hierarchy, all Nodes are children of another Node except the Root Node.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Root Node defines the main function of the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90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this screenshot, I opened up the Node menu which allows me to add a new Node to the scene.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can see just how many Nodes there are here, though you rarely use all of them.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There’s 3D Nodes, 2D Nodes, Control Nodes, and some more specialized ones near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04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this screenshot I opened the Virus’s script, which is attached to the Root Node called “</a:t>
            </a:r>
            <a:r>
              <a:rPr lang="en-US" dirty="0" err="1"/>
              <a:t>Malware_Virus</a:t>
            </a:r>
            <a:r>
              <a:rPr lang="en-US" dirty="0"/>
              <a:t>”.</a:t>
            </a:r>
          </a:p>
          <a:p>
            <a:pPr marL="171450" indent="-171450">
              <a:buFontTx/>
              <a:buChar char="-"/>
            </a:pPr>
            <a:r>
              <a:rPr lang="en-US" dirty="0"/>
              <a:t>One of the things I’d like to point out is that up here is a variable that defines a reference to a Node.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is what allows you to define Node functionality programmatically.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88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last, and probably most important, key feature is support.</a:t>
            </a:r>
          </a:p>
          <a:p>
            <a:pPr marL="171450" indent="-171450">
              <a:buFontTx/>
              <a:buChar char="-"/>
            </a:pPr>
            <a:r>
              <a:rPr lang="en-US" dirty="0"/>
              <a:t>By this I mean documentation, tutorials, community-made addons, et cetera.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has an official asset library where users can upload addons for other users to use.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There’s also an official documentation site, though its already embedded into the engine itself.</a:t>
            </a:r>
          </a:p>
          <a:p>
            <a:pPr marL="171450" indent="-171450">
              <a:buFontTx/>
              <a:buChar char="-"/>
            </a:pPr>
            <a:r>
              <a:rPr lang="en-US" dirty="0"/>
              <a:t>Its still useful to open it in a browser if you don’t want to clutter your Godot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8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Now, it’s time for a little rant.</a:t>
            </a:r>
          </a:p>
          <a:p>
            <a:pPr marL="171450" indent="-171450">
              <a:buFontTx/>
              <a:buChar char="-"/>
            </a:pPr>
            <a:r>
              <a:rPr lang="en-US" dirty="0"/>
              <a:t>Why do Indie developers use Godot? Well we hate Unity.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seriously, Vance and I almost decided on using Unity last September for DATASPIRE.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an act of what I can only call Divine Intervention, Unity announced the runtime fee, and the game development community detonated.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runtime fee would charge developers a royalty every time a game is installed and run once a game reaches a certain revenue threshold.</a:t>
            </a:r>
          </a:p>
          <a:p>
            <a:pPr marL="171450" indent="-171450">
              <a:buFontTx/>
              <a:buChar char="-"/>
            </a:pPr>
            <a:r>
              <a:rPr lang="en-US" dirty="0"/>
              <a:t>No, Unity did not elaborate on what “installing” and “running” a game meant, so people rightly lost their minds.</a:t>
            </a:r>
          </a:p>
          <a:p>
            <a:pPr marL="171450" indent="-171450">
              <a:buFontTx/>
              <a:buChar char="-"/>
            </a:pPr>
            <a:r>
              <a:rPr lang="en-US" dirty="0"/>
              <a:t>Safe to say, I believe Godot was the right choice for DATASPIRE.</a:t>
            </a:r>
          </a:p>
          <a:p>
            <a:endParaRPr lang="en-US" dirty="0"/>
          </a:p>
          <a:p>
            <a:r>
              <a:rPr lang="en-US" dirty="0"/>
              <a:t>Unity runtime fee: charge developers a royalty every time a game is installed and run, once the game reaches a certain revenue threshold.</a:t>
            </a:r>
          </a:p>
          <a:p>
            <a:endParaRPr lang="en-US" dirty="0"/>
          </a:p>
          <a:p>
            <a:r>
              <a:rPr lang="en-US" dirty="0"/>
              <a:t>Unity also removed a GitHub repository responsible for keeping track of changes to Unity Engine’s Terms of Service…</a:t>
            </a:r>
          </a:p>
          <a:p>
            <a:endParaRPr lang="en-US" dirty="0"/>
          </a:p>
          <a:p>
            <a:r>
              <a:rPr lang="en-US" dirty="0"/>
              <a:t>They fully retracted the runtime fee model a year later (Sep. 2024) and instead announced that they would annually increase the price of existing subscription plans.</a:t>
            </a:r>
          </a:p>
          <a:p>
            <a:endParaRPr lang="en-US" dirty="0"/>
          </a:p>
          <a:p>
            <a:r>
              <a:rPr lang="en-US" dirty="0"/>
              <a:t>Other Engines:</a:t>
            </a:r>
          </a:p>
          <a:p>
            <a:r>
              <a:rPr lang="en-US" dirty="0"/>
              <a:t>Unreal is more suited to AAA game development, still has problems with upper management.</a:t>
            </a:r>
          </a:p>
          <a:p>
            <a:r>
              <a:rPr lang="en-US" dirty="0"/>
              <a:t>Gamemaker Studio is popular, but limited to 2D games.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72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 can hear you asking though: “But why aren’t AAA studios using Godot???”</a:t>
            </a:r>
          </a:p>
          <a:p>
            <a:pPr marL="171450" indent="-171450">
              <a:buFontTx/>
              <a:buChar char="-"/>
            </a:pPr>
            <a:r>
              <a:rPr lang="en-US" dirty="0"/>
              <a:t>It’s the same reason why Walt Disney doesn’t use Blender: there’s no official support line.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you’re a studio and you’re on a deadline, the last thing you want to do is debug something yourself.</a:t>
            </a:r>
          </a:p>
          <a:p>
            <a:pPr marL="171450" indent="-171450">
              <a:buFontTx/>
              <a:buChar char="-"/>
            </a:pPr>
            <a:r>
              <a:rPr lang="en-US" dirty="0"/>
              <a:t>Unity and Unreal are both businesses at their core, they offer support services to studios that pay up.</a:t>
            </a:r>
          </a:p>
          <a:p>
            <a:pPr marL="171450" indent="-171450">
              <a:buFontTx/>
              <a:buChar char="-"/>
            </a:pPr>
            <a:r>
              <a:rPr lang="en-US" dirty="0"/>
              <a:t>Godot is an open-source project and doesn’t have that advantage, there’s no business model backing it up.</a:t>
            </a:r>
          </a:p>
          <a:p>
            <a:pPr marL="171450" indent="-171450">
              <a:buFontTx/>
              <a:buChar char="-"/>
            </a:pPr>
            <a:r>
              <a:rPr lang="en-US" dirty="0"/>
              <a:t>Of course, there’s other reasons too: It’s still a new tool, existing tools are sufficient, we don’t have the time or money to switch…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you hate C and love Rust, it’s all the same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60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Lastly, If you want to see some games made in Godot, there’s an official game showcase on Godot’s website.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There’s also a curator on steam that you can follow, they tag all games made with Godot on steam.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21966-7F61-4B45-B76F-5DC2D9AC0C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7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AB08-205E-7F07-325B-63F5E7EBE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1CB26-F2F4-F5DA-9AC2-5559C961F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1406E-562A-304F-8487-B3967514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9223D-5BF1-BC79-F49A-93E1663D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A54A-B210-D968-1712-4F69569B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7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2358-133A-5CD8-A306-701984CF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A3A46-BB51-2441-0CC0-65EFA3CB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89BD-BC6D-9E06-3ADC-50663830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C31AA-35CE-06FE-02B8-A9C5BBF8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1C921-242E-B81A-B366-28064270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1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8DBA-5D4E-D008-BABA-9B0F51BC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E18D3-12F5-3F89-72E0-6B22A55CC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7CCFF-FF7B-6ACB-4C7D-2E8ECF45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785A-E1AF-31D5-A4B2-528E8F95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71D66-BAAE-7376-08C2-494A1809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004F-214C-7651-C44E-6CDA200B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B061A-B873-27A2-27A6-A9B669FFD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092E1-AFAC-D4EA-57FA-DA503B1E6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A174C-0AA7-4BD1-DBA9-2782CD79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F0281-5DBC-9F27-B3DA-6F4D3C49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0D774-1968-946D-0428-7EC78B06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1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AA79-36F6-579E-893E-88F9080A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6388B-634E-8DF5-AD4D-F1844EC9F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27B60-94F7-2E03-43BD-B9329D19E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BE372-2C5D-7B61-BDEF-F4D2A0525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E01A7-AE6C-3BD3-C99E-6C7A12B02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9D931-3B8E-CA5F-EF0B-E46B6DE2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EA6EB-2ED5-0D9A-A53B-4E79A2F1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9E58F-A1CB-1D85-BBF2-EB6A09F5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5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0848-AEC7-D1FA-4483-592C4D50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29CEB-41AF-BBEF-0C21-5A8AE12C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95E03-97E8-06F9-DF38-276DF19E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8647C-B99A-AB7A-C625-EAE4B95D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1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8E589-D136-1475-0467-CAA25345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B5FE9-671D-EC1E-A549-8DF0DEA5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0BA7D-071A-BF7C-6F63-AF1C26A8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6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1F28-BBE1-AF95-3207-FAE16C8F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F874-8D13-E7FB-BB57-17A7ACC57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ECC24-4FC8-C69E-6A73-52622EE9F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692C9-C03E-91E3-1AA7-930D7BA7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31C63-99A4-5EA6-6F7D-AAEC68AF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5FC1C-A667-3680-1ABF-570A0E650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1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2DE8-C931-45BF-5046-4EA030FC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18BB0-B95A-B282-C3D2-830FF2C89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C5E09-03BD-A078-A80A-B8612DAA7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7D713-B272-E65E-F680-1C3BF1C9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0284D-C4CE-4B9A-3574-FDE58E4A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1D5D4-821F-498C-F140-DE3C6FCB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5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0CF2-F854-30EA-8011-16FBA186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2EFC9-971D-9FD0-9459-FB37B4835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03E47-B14D-40DB-2A09-C9EC4777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635F1-7B79-1A53-4B14-FC67C350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57D78-E1DC-020E-BEC8-5AB68842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71B98-4650-B751-8C59-AEB8993B7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C5857-AB47-5B10-CCDD-146773BBD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6603F-0C44-F87A-5E81-EB24093C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8885"/>
            <a:ext cx="2743200" cy="365125"/>
          </a:xfrm>
          <a:prstGeom prst="rect">
            <a:avLst/>
          </a:prstGeom>
        </p:spPr>
        <p:txBody>
          <a:bodyPr/>
          <a:lstStyle/>
          <a:p>
            <a:fld id="{9788DB82-6787-4E22-9022-12EDDFAD0A62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BD792-ED11-3A34-4CBF-8DCC6604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4B895-BA82-0047-1750-55E613A1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9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730F82-BADC-EEE6-3F25-33623412204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8C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29269B-8CCC-E18A-4218-7A970BBB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7BF9F-B9D0-217D-9C12-4D9555ACA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2FAA4-8B10-E00A-9EEA-30BC13507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3DF38-41C0-7469-9D51-E4E7F1A01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ADFC2-0664-4F8D-AB39-55AFB7B4BE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FC305-DCE7-8A1A-FEBA-B1E468359554}"/>
              </a:ext>
            </a:extLst>
          </p:cNvPr>
          <p:cNvSpPr txBox="1"/>
          <p:nvPr userDrawn="1"/>
        </p:nvSpPr>
        <p:spPr>
          <a:xfrm>
            <a:off x="0" y="6492875"/>
            <a:ext cx="260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Arial Rounded MT Bold" panose="020F0704030504030204" pitchFamily="34" charset="0"/>
              </a:rPr>
              <a:t>KENNETH W.</a:t>
            </a:r>
          </a:p>
        </p:txBody>
      </p:sp>
    </p:spTree>
    <p:extLst>
      <p:ext uri="{BB962C8B-B14F-4D97-AF65-F5344CB8AC3E}">
        <p14:creationId xmlns:p14="http://schemas.microsoft.com/office/powerpoint/2010/main" val="16157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Lilita One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Arial Rounded MT Bold" panose="020F07040305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Arial Rounded MT Bold" panose="020F07040305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Arial Rounded MT Bold" panose="020F07040305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Arial Rounded MT Bold" panose="020F07040305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Arial Rounded MT Bold" panose="020F07040305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otengine.org/asset-library/asse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dotengine.org/en/stable/index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otengine.org/showcas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26183B-FB6E-7F07-8EA9-203A74E45199}"/>
              </a:ext>
            </a:extLst>
          </p:cNvPr>
          <p:cNvSpPr/>
          <p:nvPr/>
        </p:nvSpPr>
        <p:spPr>
          <a:xfrm>
            <a:off x="0" y="1353496"/>
            <a:ext cx="12192000" cy="4151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AE615-DC1E-9ABC-ED8D-ADC2C4102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322" y="1527908"/>
            <a:ext cx="9395356" cy="380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9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A6DB-825A-3DF4-9E93-6A0E1366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GODOT?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6465A-E23D-1DF9-04B0-A85E570DD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Godot is an open-source game development engine.	</a:t>
            </a:r>
          </a:p>
          <a:p>
            <a:r>
              <a:rPr lang="en-US" dirty="0"/>
              <a:t>Similar to Wikipedia in that anyone can contribute, though all contributions are reviewed.</a:t>
            </a:r>
          </a:p>
          <a:p>
            <a:r>
              <a:rPr lang="en-US" dirty="0"/>
              <a:t>Also one of the most popular indie game engines:</a:t>
            </a:r>
          </a:p>
          <a:p>
            <a:pPr lvl="1"/>
            <a:r>
              <a:rPr lang="en-US" dirty="0"/>
              <a:t>GMTK Game Jam 2023: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1278</a:t>
            </a:r>
            <a:r>
              <a:rPr lang="en-US" dirty="0"/>
              <a:t>/6835 games made with Godot</a:t>
            </a:r>
          </a:p>
          <a:p>
            <a:pPr lvl="1"/>
            <a:r>
              <a:rPr lang="en-US" dirty="0"/>
              <a:t>GMTK Game Jam 2024: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2838</a:t>
            </a:r>
            <a:r>
              <a:rPr lang="en-US" dirty="0"/>
              <a:t>/7711 games made with Godot</a:t>
            </a:r>
          </a:p>
          <a:p>
            <a:pPr lvl="1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19%</a:t>
            </a:r>
            <a:r>
              <a:rPr lang="en-US" dirty="0"/>
              <a:t> to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37%</a:t>
            </a:r>
            <a:r>
              <a:rPr lang="en-US" dirty="0"/>
              <a:t> in one year, mainly opposed by Unity (59% to 43%)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5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EAE5-9DA9-B877-AD8E-1EEFD67F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GODOT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0CB875-772C-EE6C-1261-C7E6AF107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8112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149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8D4F-B1F1-4923-CBF3-DA1CDF4E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FEATURES: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3B98-5EE6-1379-37FA-CAEBBC002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Supports </a:t>
            </a:r>
            <a:r>
              <a:rPr lang="en-US" dirty="0" err="1"/>
              <a:t>GDScript</a:t>
            </a:r>
            <a:r>
              <a:rPr lang="en-US" dirty="0"/>
              <a:t>, C#, C++, and C</a:t>
            </a:r>
          </a:p>
          <a:p>
            <a:pPr lvl="1"/>
            <a:r>
              <a:rPr lang="en-US" dirty="0"/>
              <a:t>In terms of </a:t>
            </a:r>
            <a:r>
              <a:rPr lang="en-US" i="1" dirty="0"/>
              <a:t>performance</a:t>
            </a:r>
            <a:r>
              <a:rPr lang="en-US" dirty="0"/>
              <a:t>, 	</a:t>
            </a:r>
            <a:r>
              <a:rPr lang="en-US" dirty="0" err="1"/>
              <a:t>GDScript</a:t>
            </a:r>
            <a:r>
              <a:rPr lang="en-US" dirty="0"/>
              <a:t> == C# </a:t>
            </a:r>
            <a:r>
              <a:rPr lang="en-US" b="1" dirty="0"/>
              <a:t>&lt; C++ == C</a:t>
            </a:r>
          </a:p>
          <a:p>
            <a:pPr lvl="1"/>
            <a:r>
              <a:rPr lang="en-US" dirty="0"/>
              <a:t>In terms of </a:t>
            </a:r>
            <a:r>
              <a:rPr lang="en-US" i="1" dirty="0"/>
              <a:t>fun</a:t>
            </a:r>
            <a:r>
              <a:rPr lang="en-US" dirty="0"/>
              <a:t>, 		</a:t>
            </a:r>
            <a:r>
              <a:rPr lang="en-US" b="1" dirty="0" err="1"/>
              <a:t>GDScript</a:t>
            </a:r>
            <a:r>
              <a:rPr lang="en-US" b="1" dirty="0"/>
              <a:t> == C# &gt; </a:t>
            </a:r>
            <a:r>
              <a:rPr lang="en-US" dirty="0"/>
              <a:t>C++ == C</a:t>
            </a:r>
          </a:p>
          <a:p>
            <a:pPr lvl="1"/>
            <a:r>
              <a:rPr lang="en-US" dirty="0"/>
              <a:t>Addons allow support for Rust, </a:t>
            </a:r>
            <a:r>
              <a:rPr lang="en-US" dirty="0" err="1"/>
              <a:t>Nim</a:t>
            </a:r>
            <a:r>
              <a:rPr lang="en-US" dirty="0"/>
              <a:t>, Haskell, Clojure, Swift, D, etc.</a:t>
            </a:r>
          </a:p>
          <a:p>
            <a:r>
              <a:rPr lang="en-US" dirty="0"/>
              <a:t>Generally use </a:t>
            </a:r>
            <a:r>
              <a:rPr lang="en-US" dirty="0" err="1"/>
              <a:t>GDScript</a:t>
            </a:r>
            <a:r>
              <a:rPr lang="en-US" dirty="0"/>
              <a:t> and C#, though </a:t>
            </a:r>
            <a:r>
              <a:rPr lang="en-US" dirty="0" err="1"/>
              <a:t>GDScript</a:t>
            </a:r>
            <a:r>
              <a:rPr lang="en-US" dirty="0"/>
              <a:t> is more well-integrated.</a:t>
            </a:r>
          </a:p>
          <a:p>
            <a:r>
              <a:rPr lang="en-US" dirty="0"/>
              <a:t>Code that needs to be optimized is generally written in C++ or C.</a:t>
            </a:r>
          </a:p>
        </p:txBody>
      </p:sp>
    </p:spTree>
    <p:extLst>
      <p:ext uri="{BB962C8B-B14F-4D97-AF65-F5344CB8AC3E}">
        <p14:creationId xmlns:p14="http://schemas.microsoft.com/office/powerpoint/2010/main" val="414908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8D4F-B1F1-4923-CBF3-DA1CDF4E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FEATURES: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3B98-5EE6-1379-37FA-CAEBBC002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8475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If the Internet is a series of tubes…</a:t>
            </a:r>
          </a:p>
          <a:p>
            <a:pPr marL="457200" lvl="1" indent="0">
              <a:buNone/>
            </a:pPr>
            <a:r>
              <a:rPr lang="en-US" i="1" dirty="0"/>
              <a:t>then Godot is a stack of Legos.</a:t>
            </a:r>
          </a:p>
          <a:p>
            <a:r>
              <a:rPr lang="en-US" dirty="0"/>
              <a:t>Everything is built in containers called </a:t>
            </a:r>
            <a:r>
              <a:rPr lang="en-US" i="1" dirty="0"/>
              <a:t>Scenes</a:t>
            </a:r>
            <a:r>
              <a:rPr lang="en-US" dirty="0"/>
              <a:t>.</a:t>
            </a:r>
          </a:p>
          <a:p>
            <a:r>
              <a:rPr lang="en-US" dirty="0"/>
              <a:t>Inside scenes are </a:t>
            </a:r>
            <a:r>
              <a:rPr lang="en-US" i="1" dirty="0"/>
              <a:t>Nodes</a:t>
            </a:r>
            <a:r>
              <a:rPr lang="en-US" dirty="0"/>
              <a:t> used to define functionality.</a:t>
            </a:r>
          </a:p>
          <a:p>
            <a:r>
              <a:rPr lang="en-US" dirty="0"/>
              <a:t>Attached to nodes are </a:t>
            </a:r>
            <a:r>
              <a:rPr lang="en-US" i="1" dirty="0"/>
              <a:t>Scripts</a:t>
            </a:r>
            <a:r>
              <a:rPr lang="en-US" dirty="0"/>
              <a:t> which specialize nodes.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041BC-0BB0-7369-E6B8-27B2D2A03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5" y="1835150"/>
            <a:ext cx="3667125" cy="465772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AA099C-6E58-FB52-97B9-D1DE131C152F}"/>
              </a:ext>
            </a:extLst>
          </p:cNvPr>
          <p:cNvSpPr txBox="1">
            <a:spLocks/>
          </p:cNvSpPr>
          <p:nvPr/>
        </p:nvSpPr>
        <p:spPr>
          <a:xfrm>
            <a:off x="7686674" y="1204767"/>
            <a:ext cx="3667125" cy="643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Semi-relevant XKCD</a:t>
            </a:r>
          </a:p>
        </p:txBody>
      </p:sp>
    </p:spTree>
    <p:extLst>
      <p:ext uri="{BB962C8B-B14F-4D97-AF65-F5344CB8AC3E}">
        <p14:creationId xmlns:p14="http://schemas.microsoft.com/office/powerpoint/2010/main" val="313945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C0B23C-149E-366A-AEFE-C9A637EF3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52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6F6AD-5A60-0405-E3E7-C2E5CF6B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4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B0A6B9-7526-F058-B434-C77A3ED9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0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8D4F-B1F1-4923-CBF3-DA1CDF4E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FEATURES: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3B98-5EE6-1379-37FA-CAEBBC002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Godot has an </a:t>
            </a:r>
            <a:r>
              <a:rPr lang="en-US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asset library</a:t>
            </a:r>
            <a:r>
              <a:rPr lang="en-US" dirty="0">
                <a:solidFill>
                  <a:srgbClr val="0563C1"/>
                </a:solidFill>
              </a:rPr>
              <a:t> </a:t>
            </a:r>
            <a:r>
              <a:rPr lang="en-US" dirty="0"/>
              <a:t>where users can submit addons for the rest of the community to use.</a:t>
            </a:r>
          </a:p>
          <a:p>
            <a:r>
              <a:rPr lang="en-US" dirty="0"/>
              <a:t>Submissions and updates are put under review by moderators before being pushed to the site.</a:t>
            </a:r>
          </a:p>
          <a:p>
            <a:r>
              <a:rPr lang="en-US" dirty="0"/>
              <a:t>Godot also has an active </a:t>
            </a:r>
            <a:r>
              <a:rPr lang="en-US" dirty="0">
                <a:hlinkClick r:id="rId4"/>
              </a:rPr>
              <a:t>documentation site</a:t>
            </a:r>
            <a:r>
              <a:rPr lang="en-US" dirty="0"/>
              <a:t> (also embedded within the engine itself) that you can use as reference.</a:t>
            </a:r>
          </a:p>
        </p:txBody>
      </p:sp>
    </p:spTree>
    <p:extLst>
      <p:ext uri="{BB962C8B-B14F-4D97-AF65-F5344CB8AC3E}">
        <p14:creationId xmlns:p14="http://schemas.microsoft.com/office/powerpoint/2010/main" val="389693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1277-0271-C925-72AD-D46AF031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GAMES IN GODOT: INDIE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7D34-3A90-0199-68AC-10AB70F10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Why do Indie developers use Godot?</a:t>
            </a:r>
          </a:p>
          <a:p>
            <a:r>
              <a:rPr lang="en-US" dirty="0"/>
              <a:t>Subjective:</a:t>
            </a:r>
          </a:p>
          <a:p>
            <a:pPr lvl="1"/>
            <a:r>
              <a:rPr lang="en-US" dirty="0"/>
              <a:t>Indie developers hate Unity!</a:t>
            </a:r>
          </a:p>
          <a:p>
            <a:pPr lvl="1"/>
            <a:r>
              <a:rPr lang="en-US" dirty="0"/>
              <a:t>The other engines are fine I guess?</a:t>
            </a:r>
          </a:p>
          <a:p>
            <a:r>
              <a:rPr lang="en-US" dirty="0"/>
              <a:t>Objective:</a:t>
            </a:r>
          </a:p>
          <a:p>
            <a:pPr lvl="1"/>
            <a:r>
              <a:rPr lang="en-US" dirty="0"/>
              <a:t>September 12, 2023, Unity announced a runtime fee for all Unity games.</a:t>
            </a:r>
          </a:p>
          <a:p>
            <a:pPr lvl="1"/>
            <a:r>
              <a:rPr lang="en-US" dirty="0"/>
              <a:t>Unity fully retracted this decision… two weeks ago.</a:t>
            </a:r>
          </a:p>
          <a:p>
            <a:pPr lvl="1"/>
            <a:r>
              <a:rPr lang="en-US" dirty="0"/>
              <a:t>Trust broken between Indie developers and Unity management.</a:t>
            </a:r>
          </a:p>
        </p:txBody>
      </p:sp>
    </p:spTree>
    <p:extLst>
      <p:ext uri="{BB962C8B-B14F-4D97-AF65-F5344CB8AC3E}">
        <p14:creationId xmlns:p14="http://schemas.microsoft.com/office/powerpoint/2010/main" val="2168658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1277-0271-C925-72AD-D46AF031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GAMES IN GODOT: AAA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7D34-3A90-0199-68AC-10AB70F10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Why aren’t AAA developers using Godot?</a:t>
            </a:r>
          </a:p>
          <a:p>
            <a:r>
              <a:rPr lang="en-US" dirty="0"/>
              <a:t>Newer engine, still maturing.</a:t>
            </a:r>
          </a:p>
          <a:p>
            <a:r>
              <a:rPr lang="en-US" dirty="0"/>
              <a:t>Open-source, no “official” support service.</a:t>
            </a:r>
          </a:p>
          <a:p>
            <a:r>
              <a:rPr lang="en-US" dirty="0"/>
              <a:t>Existing game engines are sufficient.</a:t>
            </a:r>
          </a:p>
          <a:p>
            <a:pPr lvl="1"/>
            <a:r>
              <a:rPr lang="en-US" i="1" dirty="0"/>
              <a:t>“If it </a:t>
            </a:r>
            <a:r>
              <a:rPr lang="en-US" i="1" dirty="0" err="1"/>
              <a:t>ain’t</a:t>
            </a:r>
            <a:r>
              <a:rPr lang="en-US" i="1" dirty="0"/>
              <a:t> broke…”</a:t>
            </a:r>
          </a:p>
          <a:p>
            <a:r>
              <a:rPr lang="en-US" dirty="0"/>
              <a:t>Lack of time and resources to switch.</a:t>
            </a:r>
          </a:p>
        </p:txBody>
      </p:sp>
    </p:spTree>
    <p:extLst>
      <p:ext uri="{BB962C8B-B14F-4D97-AF65-F5344CB8AC3E}">
        <p14:creationId xmlns:p14="http://schemas.microsoft.com/office/powerpoint/2010/main" val="3782429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1277-0271-C925-72AD-D46AF031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GAMES IN GODOT: SHOWCASE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7D34-3A90-0199-68AC-10AB70F10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an official </a:t>
            </a:r>
            <a:r>
              <a:rPr lang="en-US" dirty="0">
                <a:hlinkClick r:id="rId3"/>
              </a:rPr>
              <a:t>game showcase</a:t>
            </a:r>
            <a:r>
              <a:rPr lang="en-US" dirty="0"/>
              <a:t> on Godot’s site.</a:t>
            </a:r>
          </a:p>
          <a:p>
            <a:r>
              <a:rPr lang="en-US" dirty="0"/>
              <a:t>The “Is it made with Godot” Curator on Steam lists all games made with Godot.</a:t>
            </a:r>
          </a:p>
          <a:p>
            <a:pPr lvl="1"/>
            <a:r>
              <a:rPr lang="en-US" dirty="0"/>
              <a:t>Not all Godot games are on Steam!</a:t>
            </a:r>
          </a:p>
          <a:p>
            <a:pPr lvl="1"/>
            <a:r>
              <a:rPr lang="en-US" dirty="0"/>
              <a:t>You can also check Itch.io</a:t>
            </a:r>
          </a:p>
        </p:txBody>
      </p:sp>
    </p:spTree>
    <p:extLst>
      <p:ext uri="{BB962C8B-B14F-4D97-AF65-F5344CB8AC3E}">
        <p14:creationId xmlns:p14="http://schemas.microsoft.com/office/powerpoint/2010/main" val="291802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26183B-FB6E-7F07-8EA9-203A74E45199}"/>
              </a:ext>
            </a:extLst>
          </p:cNvPr>
          <p:cNvSpPr/>
          <p:nvPr/>
        </p:nvSpPr>
        <p:spPr>
          <a:xfrm>
            <a:off x="0" y="1353496"/>
            <a:ext cx="12192000" cy="4151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AE615-DC1E-9ABC-ED8D-ADC2C4102E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14"/>
          <a:stretch/>
        </p:blipFill>
        <p:spPr>
          <a:xfrm>
            <a:off x="1398322" y="1527908"/>
            <a:ext cx="3907103" cy="38021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7EFB86-1B36-E0B7-7436-0381DCDA6E00}"/>
              </a:ext>
            </a:extLst>
          </p:cNvPr>
          <p:cNvSpPr txBox="1">
            <a:spLocks/>
          </p:cNvSpPr>
          <p:nvPr/>
        </p:nvSpPr>
        <p:spPr>
          <a:xfrm>
            <a:off x="5012094" y="1353497"/>
            <a:ext cx="5781584" cy="4151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FF"/>
                </a:solidFill>
                <a:latin typeface="Lilita One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sz="6400" dirty="0">
                <a:solidFill>
                  <a:srgbClr val="41404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22599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1806</Words>
  <Application>Microsoft Office PowerPoint</Application>
  <PresentationFormat>Widescreen</PresentationFormat>
  <Paragraphs>164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Calibri</vt:lpstr>
      <vt:lpstr>Lilita One</vt:lpstr>
      <vt:lpstr>Office Theme</vt:lpstr>
      <vt:lpstr>PowerPoint Presentation</vt:lpstr>
      <vt:lpstr>WHAT’S GODOT?</vt:lpstr>
      <vt:lpstr>HISTORY OF GODOT</vt:lpstr>
      <vt:lpstr>KEY FEATURES: SCRIPTING</vt:lpstr>
      <vt:lpstr>KEY FEATURES: NODES</vt:lpstr>
      <vt:lpstr>PowerPoint Presentation</vt:lpstr>
      <vt:lpstr>PowerPoint Presentation</vt:lpstr>
      <vt:lpstr>PowerPoint Presentation</vt:lpstr>
      <vt:lpstr>KEY FEATURES: SUPPORT</vt:lpstr>
      <vt:lpstr>GAMES IN GODOT: INDIE</vt:lpstr>
      <vt:lpstr>GAMES IN GODOT: AAA</vt:lpstr>
      <vt:lpstr>GAMES IN GODOT: SHOWCASE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Jhems Wallace</dc:creator>
  <cp:lastModifiedBy>Jhems Wallace</cp:lastModifiedBy>
  <cp:revision>17</cp:revision>
  <dcterms:created xsi:type="dcterms:W3CDTF">2024-09-20T22:37:53Z</dcterms:created>
  <dcterms:modified xsi:type="dcterms:W3CDTF">2024-09-23T20:20:16Z</dcterms:modified>
</cp:coreProperties>
</file>